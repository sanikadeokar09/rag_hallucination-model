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Lovelo" charset="1" panose="02000000000000000000"/>
      <p:regular r:id="rId28"/>
    </p:embeddedFont>
    <p:embeddedFont>
      <p:font typeface="XM Yekan" charset="1" panose="02000503030000020004"/>
      <p:regular r:id="rId29"/>
    </p:embeddedFont>
    <p:embeddedFont>
      <p:font typeface="XM Yekan Bold" charset="1" panose="02000803030000020004"/>
      <p:regular r:id="rId30"/>
    </p:embeddedFont>
    <p:embeddedFont>
      <p:font typeface="Poppins Bold" charset="1" panose="0000080000000000000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710517"/>
            <a:ext cx="16230600" cy="8865965"/>
          </a:xfrm>
          <a:custGeom>
            <a:avLst/>
            <a:gdLst/>
            <a:ahLst/>
            <a:cxnLst/>
            <a:rect r="r" b="b" t="t" l="l"/>
            <a:pathLst>
              <a:path h="8865965" w="16230600">
                <a:moveTo>
                  <a:pt x="0" y="0"/>
                </a:moveTo>
                <a:lnTo>
                  <a:pt x="16230600" y="0"/>
                </a:lnTo>
                <a:lnTo>
                  <a:pt x="16230600" y="8865966"/>
                </a:lnTo>
                <a:lnTo>
                  <a:pt x="0" y="8865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1" y="0"/>
                </a:lnTo>
                <a:lnTo>
                  <a:pt x="522665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069756" y="3834741"/>
            <a:ext cx="14538521" cy="272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15"/>
              </a:lnSpc>
            </a:pPr>
            <a:r>
              <a:rPr lang="en-US" sz="5479">
                <a:solidFill>
                  <a:srgbClr val="1D242B"/>
                </a:solidFill>
                <a:latin typeface="Lovelo"/>
                <a:ea typeface="Lovelo"/>
                <a:cs typeface="Lovelo"/>
                <a:sym typeface="Lovelo"/>
              </a:rPr>
              <a:t>LITERATURE SURVEY ON META-LEARNING–BASED HALLUCINATION DETECTION AND RISK PREDICTION IN LARGE LANGUAGE MODELS</a:t>
            </a:r>
          </a:p>
        </p:txBody>
      </p:sp>
      <p:sp>
        <p:nvSpPr>
          <p:cNvPr name="Freeform 5" id="5"/>
          <p:cNvSpPr/>
          <p:nvPr/>
        </p:nvSpPr>
        <p:spPr>
          <a:xfrm flipH="true" flipV="true" rot="0">
            <a:off x="13061349" y="617220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1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1" y="0"/>
                </a:lnTo>
                <a:lnTo>
                  <a:pt x="5226651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646723" y="7762875"/>
            <a:ext cx="4563951" cy="4114800"/>
          </a:xfrm>
          <a:custGeom>
            <a:avLst/>
            <a:gdLst/>
            <a:ahLst/>
            <a:cxnLst/>
            <a:rect r="r" b="b" t="t" l="l"/>
            <a:pathLst>
              <a:path h="4114800" w="4563951">
                <a:moveTo>
                  <a:pt x="0" y="0"/>
                </a:moveTo>
                <a:lnTo>
                  <a:pt x="4563951" y="0"/>
                </a:lnTo>
                <a:lnTo>
                  <a:pt x="456395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5383371" y="-1654683"/>
            <a:ext cx="4563951" cy="4114800"/>
          </a:xfrm>
          <a:custGeom>
            <a:avLst/>
            <a:gdLst/>
            <a:ahLst/>
            <a:cxnLst/>
            <a:rect r="r" b="b" t="t" l="l"/>
            <a:pathLst>
              <a:path h="4114800" w="4563951">
                <a:moveTo>
                  <a:pt x="456395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563950" y="0"/>
                </a:lnTo>
                <a:lnTo>
                  <a:pt x="456395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268554" y="8284505"/>
            <a:ext cx="3441469" cy="4114800"/>
          </a:xfrm>
          <a:custGeom>
            <a:avLst/>
            <a:gdLst/>
            <a:ahLst/>
            <a:cxnLst/>
            <a:rect r="r" b="b" t="t" l="l"/>
            <a:pathLst>
              <a:path h="4114800" w="3441469">
                <a:moveTo>
                  <a:pt x="0" y="0"/>
                </a:moveTo>
                <a:lnTo>
                  <a:pt x="3441469" y="0"/>
                </a:lnTo>
                <a:lnTo>
                  <a:pt x="344146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8014311" y="-2114550"/>
            <a:ext cx="3441469" cy="4114800"/>
          </a:xfrm>
          <a:custGeom>
            <a:avLst/>
            <a:gdLst/>
            <a:ahLst/>
            <a:cxnLst/>
            <a:rect r="r" b="b" t="t" l="l"/>
            <a:pathLst>
              <a:path h="4114800" w="3441469">
                <a:moveTo>
                  <a:pt x="3441469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441469" y="0"/>
                </a:lnTo>
                <a:lnTo>
                  <a:pt x="3441469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1" y="0"/>
                </a:lnTo>
                <a:lnTo>
                  <a:pt x="522665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3061349" y="617220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1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1" y="0"/>
                </a:lnTo>
                <a:lnTo>
                  <a:pt x="5226651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82398" y="286863"/>
            <a:ext cx="17452471" cy="9533412"/>
          </a:xfrm>
          <a:custGeom>
            <a:avLst/>
            <a:gdLst/>
            <a:ahLst/>
            <a:cxnLst/>
            <a:rect r="r" b="b" t="t" l="l"/>
            <a:pathLst>
              <a:path h="9533412" w="17452471">
                <a:moveTo>
                  <a:pt x="0" y="0"/>
                </a:moveTo>
                <a:lnTo>
                  <a:pt x="17452471" y="0"/>
                </a:lnTo>
                <a:lnTo>
                  <a:pt x="17452471" y="9533412"/>
                </a:lnTo>
                <a:lnTo>
                  <a:pt x="0" y="95334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36047" y="1250353"/>
            <a:ext cx="15815477" cy="557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89"/>
              </a:lnSpc>
            </a:pPr>
            <a:r>
              <a:rPr lang="en-US" sz="3278">
                <a:solidFill>
                  <a:srgbClr val="1D242B"/>
                </a:solidFill>
                <a:latin typeface="Lovelo"/>
                <a:ea typeface="Lovelo"/>
                <a:cs typeface="Lovelo"/>
                <a:sym typeface="Lovelo"/>
              </a:rPr>
              <a:t>Detecting Hallucinations in LLMs using Semantic Entropy (Nature, 2024)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911660" y="2733167"/>
            <a:ext cx="8753686" cy="6769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91864" indent="-245932" lvl="1">
              <a:lnSpc>
                <a:spcPts val="3189"/>
              </a:lnSpc>
              <a:buFont typeface="Arial"/>
              <a:buChar char="•"/>
            </a:pPr>
            <a:r>
              <a:rPr lang="en-US" sz="2278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 This paper provides key foundations for meta-learning–based hallucination detection and risk prediction in large language models:</a:t>
            </a:r>
          </a:p>
          <a:p>
            <a:pPr algn="just" marL="491864" indent="-245932" lvl="1">
              <a:lnSpc>
                <a:spcPts val="3189"/>
              </a:lnSpc>
              <a:buFont typeface="Arial"/>
              <a:buChar char="•"/>
            </a:pPr>
            <a:r>
              <a:rPr lang="en-US" sz="2278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Semantic Clustering as a Feature:Semantic cluster distributions offer a meaning-aware alternative to raw token probabilities and can serve as robust input features for meta-learning–based hallucination detection.</a:t>
            </a:r>
          </a:p>
          <a:p>
            <a:pPr algn="just" marL="491864" indent="-245932" lvl="1">
              <a:lnSpc>
                <a:spcPts val="3189"/>
              </a:lnSpc>
              <a:buFont typeface="Arial"/>
              <a:buChar char="•"/>
            </a:pPr>
            <a:r>
              <a:rPr lang="en-US" sz="2278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Unsuperv</a:t>
            </a:r>
            <a:r>
              <a:rPr lang="en-US" sz="2278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ised Baseline: As the method requires no labeled hallucination data, it serves as a strong unsupervised benchmark for comparison with meta-learning approaches.</a:t>
            </a:r>
          </a:p>
          <a:p>
            <a:pPr algn="just" marL="491864" indent="-245932" lvl="1">
              <a:lnSpc>
                <a:spcPts val="3189"/>
              </a:lnSpc>
              <a:buFont typeface="Arial"/>
              <a:buChar char="•"/>
            </a:pPr>
            <a:r>
              <a:rPr lang="en-US" sz="2278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Risk Evaluation Metric (AURAC): The Area Under the Rejection Accuracy Curve (AURAC) enables explicit evaluation of hallucination risk through selective abstention.</a:t>
            </a:r>
          </a:p>
          <a:p>
            <a:pPr algn="just" marL="491864" indent="-245932" lvl="1">
              <a:lnSpc>
                <a:spcPts val="3189"/>
              </a:lnSpc>
              <a:buFont typeface="Arial"/>
              <a:buChar char="•"/>
            </a:pPr>
            <a:r>
              <a:rPr lang="en-US" sz="2278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Black-Box Applicability: The discrete semantic entropy variant supports hallucination detection and risk prediction without access to model internals, enabling use with proprietary LLMs.</a:t>
            </a:r>
          </a:p>
          <a:p>
            <a:pPr algn="just">
              <a:lnSpc>
                <a:spcPts val="318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254499" y="2041271"/>
            <a:ext cx="5069493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b="true" sz="3999">
                <a:solidFill>
                  <a:srgbClr val="1D242B"/>
                </a:solidFill>
                <a:latin typeface="XM Yekan Bold"/>
                <a:ea typeface="XM Yekan Bold"/>
                <a:cs typeface="XM Yekan Bold"/>
                <a:sym typeface="XM Yekan Bold"/>
              </a:rPr>
              <a:t>SUMMARY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11660" y="1990725"/>
            <a:ext cx="8890869" cy="67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95"/>
              </a:lnSpc>
            </a:pPr>
            <a:r>
              <a:rPr lang="en-US" sz="4067" b="true">
                <a:solidFill>
                  <a:srgbClr val="1D242B"/>
                </a:solidFill>
                <a:latin typeface="XM Yekan Bold"/>
                <a:ea typeface="XM Yekan Bold"/>
                <a:cs typeface="XM Yekan Bold"/>
                <a:sym typeface="XM Yekan Bold"/>
              </a:rPr>
              <a:t>RELEVANCE TO THE TOPIC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-1646723" y="7762875"/>
            <a:ext cx="4563951" cy="4114800"/>
          </a:xfrm>
          <a:custGeom>
            <a:avLst/>
            <a:gdLst/>
            <a:ahLst/>
            <a:cxnLst/>
            <a:rect r="r" b="b" t="t" l="l"/>
            <a:pathLst>
              <a:path h="4114800" w="4563951">
                <a:moveTo>
                  <a:pt x="0" y="0"/>
                </a:moveTo>
                <a:lnTo>
                  <a:pt x="4563951" y="0"/>
                </a:lnTo>
                <a:lnTo>
                  <a:pt x="456395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15383371" y="-1654683"/>
            <a:ext cx="4563951" cy="4114800"/>
          </a:xfrm>
          <a:custGeom>
            <a:avLst/>
            <a:gdLst/>
            <a:ahLst/>
            <a:cxnLst/>
            <a:rect r="r" b="b" t="t" l="l"/>
            <a:pathLst>
              <a:path h="4114800" w="4563951">
                <a:moveTo>
                  <a:pt x="456395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563950" y="0"/>
                </a:lnTo>
                <a:lnTo>
                  <a:pt x="456395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54529" y="2733167"/>
            <a:ext cx="8135150" cy="6771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92030" indent="-246015" lvl="1">
              <a:lnSpc>
                <a:spcPts val="3190"/>
              </a:lnSpc>
              <a:buFont typeface="Arial"/>
              <a:buChar char="•"/>
            </a:pPr>
            <a:r>
              <a:rPr lang="en-US" sz="2278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The Problem: Traditional uncertainty measures (like "naive entropy") treat different phrasings of the same correct answer (e.g., "Paris" vs. "It is Paris") as different, leading to misleadingly high uncertainty scores.</a:t>
            </a:r>
          </a:p>
          <a:p>
            <a:pPr algn="just" marL="492030" indent="-246015" lvl="1">
              <a:lnSpc>
                <a:spcPts val="3190"/>
              </a:lnSpc>
              <a:buFont typeface="Arial"/>
              <a:buChar char="•"/>
            </a:pPr>
            <a:r>
              <a:rPr lang="en-US" sz="2278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The Solution: The authors propose Semantic Entropy, which clusters generated answers based on their meaning rather than their exact wording.</a:t>
            </a:r>
          </a:p>
          <a:p>
            <a:pPr algn="just" marL="492030" indent="-246015" lvl="1">
              <a:lnSpc>
                <a:spcPts val="3190"/>
              </a:lnSpc>
              <a:buFont typeface="Arial"/>
              <a:buChar char="•"/>
            </a:pPr>
            <a:r>
              <a:rPr lang="en-US" sz="2278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How it Works: The method samples multiple answers, uses an LLM or Natural Language Inference (NLI) tool to determine if they entail each other (semantic equivalence), and then calculates entropy over these clusters.</a:t>
            </a:r>
          </a:p>
          <a:p>
            <a:pPr algn="just" marL="492030" indent="-246015" lvl="1">
              <a:lnSpc>
                <a:spcPts val="3190"/>
              </a:lnSpc>
              <a:buFont typeface="Arial"/>
              <a:buChar char="•"/>
            </a:pPr>
            <a:r>
              <a:rPr lang="en-US" sz="2278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Key Results: Semantic entropy significantly outperforms baselines across diverse tasks (TriviaQA, BioASQ, math problems) and models (LLaMA 2, Mistral, GPT-4), achieving an average AUROC of 0.790 compared to 0.691 for naive entropy.</a:t>
            </a:r>
          </a:p>
          <a:p>
            <a:pPr algn="just">
              <a:lnSpc>
                <a:spcPts val="319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1" y="0"/>
                </a:lnTo>
                <a:lnTo>
                  <a:pt x="522665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3061349" y="617220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1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1" y="0"/>
                </a:lnTo>
                <a:lnTo>
                  <a:pt x="5226651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82398" y="286863"/>
            <a:ext cx="17452471" cy="9533412"/>
          </a:xfrm>
          <a:custGeom>
            <a:avLst/>
            <a:gdLst/>
            <a:ahLst/>
            <a:cxnLst/>
            <a:rect r="r" b="b" t="t" l="l"/>
            <a:pathLst>
              <a:path h="9533412" w="17452471">
                <a:moveTo>
                  <a:pt x="0" y="0"/>
                </a:moveTo>
                <a:lnTo>
                  <a:pt x="17452471" y="0"/>
                </a:lnTo>
                <a:lnTo>
                  <a:pt x="17452471" y="9533412"/>
                </a:lnTo>
                <a:lnTo>
                  <a:pt x="0" y="95334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36047" y="1059881"/>
            <a:ext cx="15815477" cy="1131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89"/>
              </a:lnSpc>
            </a:pPr>
            <a:r>
              <a:rPr lang="en-US" sz="3278">
                <a:solidFill>
                  <a:srgbClr val="1D242B"/>
                </a:solidFill>
                <a:latin typeface="Lovelo"/>
                <a:ea typeface="Lovelo"/>
                <a:cs typeface="Lovelo"/>
                <a:sym typeface="Lovelo"/>
              </a:rPr>
              <a:t>ULTRAFEEDBACK: Boosting Language Models with Scaled AI Feedback (ICML 2024)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3786" y="3144283"/>
            <a:ext cx="8521560" cy="3969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91864" indent="-245932" lvl="1">
              <a:lnSpc>
                <a:spcPts val="3189"/>
              </a:lnSpc>
              <a:buFont typeface="Arial"/>
              <a:buChar char="•"/>
            </a:pPr>
            <a:r>
              <a:rPr lang="en-US" sz="2278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Provides a scalable supervision signal that can be leveraged for hallucination detection without human-labeled data.</a:t>
            </a:r>
          </a:p>
          <a:p>
            <a:pPr algn="just" marL="491864" indent="-245932" lvl="1">
              <a:lnSpc>
                <a:spcPts val="3189"/>
              </a:lnSpc>
              <a:buFont typeface="Arial"/>
              <a:buChar char="•"/>
            </a:pPr>
            <a:r>
              <a:rPr lang="en-US" sz="2278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Complements semantic entropy by enabling learning-based interpretation of uncertainty signals through reward modeling.</a:t>
            </a:r>
          </a:p>
          <a:p>
            <a:pPr algn="just" marL="491864" indent="-245932" lvl="1">
              <a:lnSpc>
                <a:spcPts val="3189"/>
              </a:lnSpc>
              <a:buFont typeface="Arial"/>
              <a:buChar char="•"/>
            </a:pPr>
            <a:r>
              <a:rPr lang="en-US" sz="2278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Supports r</a:t>
            </a:r>
            <a:r>
              <a:rPr lang="en-US" sz="2278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isk-aware evaluation by ranking and rejecting low-quality or unreliable responses.</a:t>
            </a:r>
          </a:p>
          <a:p>
            <a:pPr algn="just" marL="491864" indent="-245932" lvl="1">
              <a:lnSpc>
                <a:spcPts val="3189"/>
              </a:lnSpc>
              <a:buFont typeface="Arial"/>
              <a:buChar char="•"/>
            </a:pPr>
            <a:r>
              <a:rPr lang="en-US" sz="2278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Motivates meta-learning approaches that adapt hallucination risk estimation across tasks using AI-derived feedback signals instead of fixed heuristics.</a:t>
            </a:r>
          </a:p>
          <a:p>
            <a:pPr algn="just">
              <a:lnSpc>
                <a:spcPts val="318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236047" y="2211758"/>
            <a:ext cx="2581330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20"/>
              </a:lnSpc>
            </a:pPr>
            <a:r>
              <a:rPr lang="en-US" b="true" sz="3800">
                <a:solidFill>
                  <a:srgbClr val="1D242B"/>
                </a:solidFill>
                <a:latin typeface="XM Yekan Bold"/>
                <a:ea typeface="XM Yekan Bold"/>
                <a:cs typeface="XM Yekan Bold"/>
                <a:sym typeface="XM Yekan Bold"/>
              </a:rPr>
              <a:t>SUMMARY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397131" y="2309967"/>
            <a:ext cx="8890869" cy="67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95"/>
              </a:lnSpc>
            </a:pPr>
            <a:r>
              <a:rPr lang="en-US" sz="4067" b="true">
                <a:solidFill>
                  <a:srgbClr val="1D242B"/>
                </a:solidFill>
                <a:latin typeface="XM Yekan Bold"/>
                <a:ea typeface="XM Yekan Bold"/>
                <a:cs typeface="XM Yekan Bold"/>
                <a:sym typeface="XM Yekan Bold"/>
              </a:rPr>
              <a:t>RELEVANCE TO THE TOPIC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-1646723" y="7762875"/>
            <a:ext cx="4563951" cy="4114800"/>
          </a:xfrm>
          <a:custGeom>
            <a:avLst/>
            <a:gdLst/>
            <a:ahLst/>
            <a:cxnLst/>
            <a:rect r="r" b="b" t="t" l="l"/>
            <a:pathLst>
              <a:path h="4114800" w="4563951">
                <a:moveTo>
                  <a:pt x="0" y="0"/>
                </a:moveTo>
                <a:lnTo>
                  <a:pt x="4563951" y="0"/>
                </a:lnTo>
                <a:lnTo>
                  <a:pt x="456395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15383371" y="-1654683"/>
            <a:ext cx="4563951" cy="4114800"/>
          </a:xfrm>
          <a:custGeom>
            <a:avLst/>
            <a:gdLst/>
            <a:ahLst/>
            <a:cxnLst/>
            <a:rect r="r" b="b" t="t" l="l"/>
            <a:pathLst>
              <a:path h="4114800" w="4563951">
                <a:moveTo>
                  <a:pt x="456395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563950" y="0"/>
                </a:lnTo>
                <a:lnTo>
                  <a:pt x="456395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29647" y="2949591"/>
            <a:ext cx="8057131" cy="6237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2371" indent="-226185" lvl="1">
              <a:lnSpc>
                <a:spcPts val="2933"/>
              </a:lnSpc>
              <a:buFont typeface="Arial"/>
              <a:buChar char="•"/>
            </a:pPr>
            <a:r>
              <a:rPr lang="en-US" sz="209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Proposes ULTRAFEEDBACK, a large-scale AI-generated feedback dataset to align LLMs without relying on expensive human annotations.</a:t>
            </a:r>
          </a:p>
          <a:p>
            <a:pPr algn="just" marL="452371" indent="-226185" lvl="1">
              <a:lnSpc>
                <a:spcPts val="2933"/>
              </a:lnSpc>
              <a:buFont typeface="Arial"/>
              <a:buChar char="•"/>
            </a:pPr>
            <a:r>
              <a:rPr lang="en-US" sz="209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Introduces a scalable AI feedback pipeline using strong LLMs (e.g., GPT-4) to generate preference judgments across instruction-following, truthfulness, honesty, and helpfulness.</a:t>
            </a:r>
          </a:p>
          <a:p>
            <a:pPr algn="just" marL="452371" indent="-226185" lvl="1">
              <a:lnSpc>
                <a:spcPts val="2933"/>
              </a:lnSpc>
              <a:buFont typeface="Arial"/>
              <a:buChar char="•"/>
            </a:pPr>
            <a:r>
              <a:rPr lang="en-US" sz="209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Constructs over 1 million feedback instances covering diverse tasks and response qualities.</a:t>
            </a:r>
          </a:p>
          <a:p>
            <a:pPr algn="just" marL="452371" indent="-226185" lvl="1">
              <a:lnSpc>
                <a:spcPts val="2933"/>
              </a:lnSpc>
              <a:buFont typeface="Arial"/>
              <a:buChar char="•"/>
            </a:pPr>
            <a:r>
              <a:rPr lang="en-US" sz="209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Trains a reward model (UltraRM) and improves open-source LLM performance using best-of-n sampling and reinforcement learning.</a:t>
            </a:r>
          </a:p>
          <a:p>
            <a:pPr algn="just" marL="452371" indent="-226185" lvl="1">
              <a:lnSpc>
                <a:spcPts val="2933"/>
              </a:lnSpc>
              <a:buFont typeface="Arial"/>
              <a:buChar char="•"/>
            </a:pPr>
            <a:r>
              <a:rPr lang="en-US" sz="209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Demonstrates that AI-generated feedback can effectively replace human feedback for alignment and evaluation at scale.</a:t>
            </a:r>
          </a:p>
          <a:p>
            <a:pPr algn="just" marL="452371" indent="-226185" lvl="1">
              <a:lnSpc>
                <a:spcPts val="2933"/>
              </a:lnSpc>
              <a:buFont typeface="Arial"/>
              <a:buChar char="•"/>
            </a:pPr>
            <a:r>
              <a:rPr lang="en-US" sz="209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Limi</a:t>
            </a:r>
            <a:r>
              <a:rPr lang="en-US" sz="209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tations: feedback quality depends on the annotator LLM, and alignment focuses on preference learning rather than explicit hallucination correction.</a:t>
            </a:r>
          </a:p>
          <a:p>
            <a:pPr algn="just">
              <a:lnSpc>
                <a:spcPts val="2933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9526207" y="7030854"/>
            <a:ext cx="7070283" cy="2156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7"/>
              </a:lnSpc>
            </a:pPr>
            <a:r>
              <a:rPr lang="en-US" sz="2062">
                <a:solidFill>
                  <a:srgbClr val="1D242B"/>
                </a:solidFill>
                <a:latin typeface="Lovelo"/>
                <a:ea typeface="Lovelo"/>
                <a:cs typeface="Lovelo"/>
                <a:sym typeface="Lovelo"/>
              </a:rPr>
              <a:t>Key Takeaway</a:t>
            </a:r>
          </a:p>
          <a:p>
            <a:pPr algn="l">
              <a:lnSpc>
                <a:spcPts val="2887"/>
              </a:lnSpc>
              <a:spcBef>
                <a:spcPct val="0"/>
              </a:spcBef>
            </a:pPr>
            <a:r>
              <a:rPr lang="en-US" sz="206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ULTRAFEEDBACK enables scalable, learning-based supervisi</a:t>
            </a:r>
            <a:r>
              <a:rPr lang="en-US" sz="206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on that complements uncertainty-based hallucination detection and supports meta-learning–driven risk prediction.</a:t>
            </a:r>
          </a:p>
          <a:p>
            <a:pPr algn="l">
              <a:lnSpc>
                <a:spcPts val="288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1" y="0"/>
                </a:lnTo>
                <a:lnTo>
                  <a:pt x="522665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3061349" y="617220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1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1" y="0"/>
                </a:lnTo>
                <a:lnTo>
                  <a:pt x="5226651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82398" y="286863"/>
            <a:ext cx="17452471" cy="9533412"/>
          </a:xfrm>
          <a:custGeom>
            <a:avLst/>
            <a:gdLst/>
            <a:ahLst/>
            <a:cxnLst/>
            <a:rect r="r" b="b" t="t" l="l"/>
            <a:pathLst>
              <a:path h="9533412" w="17452471">
                <a:moveTo>
                  <a:pt x="0" y="0"/>
                </a:moveTo>
                <a:lnTo>
                  <a:pt x="17452471" y="0"/>
                </a:lnTo>
                <a:lnTo>
                  <a:pt x="17452471" y="9533412"/>
                </a:lnTo>
                <a:lnTo>
                  <a:pt x="0" y="95334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36047" y="1023014"/>
            <a:ext cx="15815477" cy="1131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89"/>
              </a:lnSpc>
            </a:pPr>
            <a:r>
              <a:rPr lang="en-US" sz="3278">
                <a:solidFill>
                  <a:srgbClr val="1D242B"/>
                </a:solidFill>
                <a:latin typeface="Lovelo"/>
                <a:ea typeface="Lovelo"/>
                <a:cs typeface="Lovelo"/>
                <a:sym typeface="Lovelo"/>
              </a:rPr>
              <a:t>The Geometry of Truth: Emergent Linear Structure in LLM Representations (COLM 2024)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3786" y="3144283"/>
            <a:ext cx="8521560" cy="4369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91864" indent="-245932" lvl="1">
              <a:lnSpc>
                <a:spcPts val="3189"/>
              </a:lnSpc>
              <a:buFont typeface="Arial"/>
              <a:buChar char="•"/>
            </a:pPr>
            <a:r>
              <a:rPr lang="en-US" sz="2278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Establishes that hallucination-related properties (truth vs. falsehood) are explicitly encoded in model internals.</a:t>
            </a:r>
          </a:p>
          <a:p>
            <a:pPr algn="just" marL="491864" indent="-245932" lvl="1">
              <a:lnSpc>
                <a:spcPts val="3189"/>
              </a:lnSpc>
              <a:buFont typeface="Arial"/>
              <a:buChar char="•"/>
            </a:pPr>
            <a:r>
              <a:rPr lang="en-US" sz="2278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Supports feature</a:t>
            </a:r>
            <a:r>
              <a:rPr lang="en-US" sz="2278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-based hallucination detection using latent representations, complementing output-based uncertainty methods like semantic entropy.</a:t>
            </a:r>
          </a:p>
          <a:p>
            <a:pPr algn="just" marL="491864" indent="-245932" lvl="1">
              <a:lnSpc>
                <a:spcPts val="3189"/>
              </a:lnSpc>
              <a:buFont typeface="Arial"/>
              <a:buChar char="•"/>
            </a:pPr>
            <a:r>
              <a:rPr lang="en-US" sz="2278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Motivates meta-learning frameworks that learn task-invariant truth signals across datasets and domains.</a:t>
            </a:r>
          </a:p>
          <a:p>
            <a:pPr algn="just" marL="491864" indent="-245932" lvl="1">
              <a:lnSpc>
                <a:spcPts val="3189"/>
              </a:lnSpc>
              <a:buFont typeface="Arial"/>
              <a:buChar char="•"/>
            </a:pPr>
            <a:r>
              <a:rPr lang="en-US" sz="2278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Enables risk prediction by combining internal truth representations with uncertainty signals for calibrated hallucination detection.</a:t>
            </a:r>
          </a:p>
          <a:p>
            <a:pPr algn="just">
              <a:lnSpc>
                <a:spcPts val="318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236047" y="2211758"/>
            <a:ext cx="2581330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20"/>
              </a:lnSpc>
            </a:pPr>
            <a:r>
              <a:rPr lang="en-US" b="true" sz="3800">
                <a:solidFill>
                  <a:srgbClr val="1D242B"/>
                </a:solidFill>
                <a:latin typeface="XM Yekan Bold"/>
                <a:ea typeface="XM Yekan Bold"/>
                <a:cs typeface="XM Yekan Bold"/>
                <a:sym typeface="XM Yekan Bold"/>
              </a:rPr>
              <a:t>SUMMARY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397131" y="2309967"/>
            <a:ext cx="8890869" cy="67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95"/>
              </a:lnSpc>
            </a:pPr>
            <a:r>
              <a:rPr lang="en-US" sz="4067" b="true">
                <a:solidFill>
                  <a:srgbClr val="1D242B"/>
                </a:solidFill>
                <a:latin typeface="XM Yekan Bold"/>
                <a:ea typeface="XM Yekan Bold"/>
                <a:cs typeface="XM Yekan Bold"/>
                <a:sym typeface="XM Yekan Bold"/>
              </a:rPr>
              <a:t>RELEVANCE TO THE TOPIC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-1646723" y="7762875"/>
            <a:ext cx="4563951" cy="4114800"/>
          </a:xfrm>
          <a:custGeom>
            <a:avLst/>
            <a:gdLst/>
            <a:ahLst/>
            <a:cxnLst/>
            <a:rect r="r" b="b" t="t" l="l"/>
            <a:pathLst>
              <a:path h="4114800" w="4563951">
                <a:moveTo>
                  <a:pt x="0" y="0"/>
                </a:moveTo>
                <a:lnTo>
                  <a:pt x="4563951" y="0"/>
                </a:lnTo>
                <a:lnTo>
                  <a:pt x="456395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15383371" y="-1654683"/>
            <a:ext cx="4563951" cy="4114800"/>
          </a:xfrm>
          <a:custGeom>
            <a:avLst/>
            <a:gdLst/>
            <a:ahLst/>
            <a:cxnLst/>
            <a:rect r="r" b="b" t="t" l="l"/>
            <a:pathLst>
              <a:path h="4114800" w="4563951">
                <a:moveTo>
                  <a:pt x="456395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563950" y="0"/>
                </a:lnTo>
                <a:lnTo>
                  <a:pt x="456395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29647" y="2949591"/>
            <a:ext cx="8057131" cy="4766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2371" indent="-226185" lvl="1">
              <a:lnSpc>
                <a:spcPts val="2933"/>
              </a:lnSpc>
              <a:buFont typeface="Arial"/>
              <a:buChar char="•"/>
            </a:pPr>
            <a:r>
              <a:rPr lang="en-US" sz="209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Investigates whether large language models internally represent truth and falsehood in a structured manner.</a:t>
            </a:r>
          </a:p>
          <a:p>
            <a:pPr algn="just" marL="452371" indent="-226185" lvl="1">
              <a:lnSpc>
                <a:spcPts val="2933"/>
              </a:lnSpc>
              <a:buFont typeface="Arial"/>
              <a:buChar char="•"/>
            </a:pPr>
            <a:r>
              <a:rPr lang="en-US" sz="209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Uses high-quality true/false datasets and analyzes hidden layer representations of LLMs (e.g., LLaMA-2).</a:t>
            </a:r>
          </a:p>
          <a:p>
            <a:pPr algn="just" marL="452371" indent="-226185" lvl="1">
              <a:lnSpc>
                <a:spcPts val="2933"/>
              </a:lnSpc>
              <a:buFont typeface="Arial"/>
              <a:buChar char="•"/>
            </a:pPr>
            <a:r>
              <a:rPr lang="en-US" sz="209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Shows that truthfulness is linearly separable in representation space, especially in larger models.</a:t>
            </a:r>
          </a:p>
          <a:p>
            <a:pPr algn="just" marL="452371" indent="-226185" lvl="1">
              <a:lnSpc>
                <a:spcPts val="2933"/>
              </a:lnSpc>
              <a:buFont typeface="Arial"/>
              <a:buChar char="•"/>
            </a:pPr>
            <a:r>
              <a:rPr lang="en-US" sz="209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Demonstrates strong cross-dataset generalization of simple linear probes trained to detect truthfulness.</a:t>
            </a:r>
          </a:p>
          <a:p>
            <a:pPr algn="just" marL="452371" indent="-226185" lvl="1">
              <a:lnSpc>
                <a:spcPts val="2933"/>
              </a:lnSpc>
              <a:buFont typeface="Arial"/>
              <a:buChar char="•"/>
            </a:pPr>
            <a:r>
              <a:rPr lang="en-US" sz="209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Provides causal evidence by intervening on identified directions, causing models to flip between true and false outputs.</a:t>
            </a:r>
          </a:p>
          <a:p>
            <a:pPr algn="just" marL="452371" indent="-226185" lvl="1">
              <a:lnSpc>
                <a:spcPts val="2933"/>
              </a:lnSpc>
              <a:buFont typeface="Arial"/>
              <a:buChar char="•"/>
            </a:pPr>
            <a:r>
              <a:rPr lang="en-US" sz="209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Limi</a:t>
            </a:r>
            <a:r>
              <a:rPr lang="en-US" sz="209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tations: requires access to internal model activations and focuses on factual truth rather than open-ended hallucinations.</a:t>
            </a:r>
          </a:p>
          <a:p>
            <a:pPr algn="just">
              <a:lnSpc>
                <a:spcPts val="2933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9526207" y="7306012"/>
            <a:ext cx="7070283" cy="2157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7"/>
              </a:lnSpc>
            </a:pPr>
            <a:r>
              <a:rPr lang="en-US" sz="2062">
                <a:solidFill>
                  <a:srgbClr val="1D242B"/>
                </a:solidFill>
                <a:latin typeface="Lovelo"/>
                <a:ea typeface="Lovelo"/>
                <a:cs typeface="Lovelo"/>
                <a:sym typeface="Lovelo"/>
              </a:rPr>
              <a:t>Key Takeaway</a:t>
            </a:r>
          </a:p>
          <a:p>
            <a:pPr algn="l">
              <a:lnSpc>
                <a:spcPts val="2887"/>
              </a:lnSpc>
              <a:spcBef>
                <a:spcPct val="0"/>
              </a:spcBef>
            </a:pPr>
            <a:r>
              <a:rPr lang="en-US" sz="206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Truthfulness emerges as a learnable, linearly structured signal in LLM representations, providing a str</a:t>
            </a:r>
            <a:r>
              <a:rPr lang="en-US" sz="206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ong foundation for meta-learning–based hallucination detection and risk prediction.</a:t>
            </a:r>
          </a:p>
          <a:p>
            <a:pPr algn="l">
              <a:lnSpc>
                <a:spcPts val="288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1" y="0"/>
                </a:lnTo>
                <a:lnTo>
                  <a:pt x="522665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3061349" y="617220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1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1" y="0"/>
                </a:lnTo>
                <a:lnTo>
                  <a:pt x="5226651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82398" y="286863"/>
            <a:ext cx="17452471" cy="9533412"/>
          </a:xfrm>
          <a:custGeom>
            <a:avLst/>
            <a:gdLst/>
            <a:ahLst/>
            <a:cxnLst/>
            <a:rect r="r" b="b" t="t" l="l"/>
            <a:pathLst>
              <a:path h="9533412" w="17452471">
                <a:moveTo>
                  <a:pt x="0" y="0"/>
                </a:moveTo>
                <a:lnTo>
                  <a:pt x="17452471" y="0"/>
                </a:lnTo>
                <a:lnTo>
                  <a:pt x="17452471" y="9533412"/>
                </a:lnTo>
                <a:lnTo>
                  <a:pt x="0" y="95334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36047" y="1059881"/>
            <a:ext cx="15815477" cy="1131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89"/>
              </a:lnSpc>
            </a:pPr>
            <a:r>
              <a:rPr lang="en-US" sz="3278">
                <a:solidFill>
                  <a:srgbClr val="1D242B"/>
                </a:solidFill>
                <a:latin typeface="Lovelo"/>
                <a:ea typeface="Lovelo"/>
                <a:cs typeface="Lovelo"/>
                <a:sym typeface="Lovelo"/>
              </a:rPr>
              <a:t>Hallucination is Inevitable: An Innate Limitation of Large Language Models (2025)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3786" y="3144283"/>
            <a:ext cx="8521560" cy="3969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91864" indent="-245932" lvl="1">
              <a:lnSpc>
                <a:spcPts val="3189"/>
              </a:lnSpc>
              <a:buFont typeface="Arial"/>
              <a:buChar char="•"/>
            </a:pPr>
            <a:r>
              <a:rPr lang="en-US" sz="2278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Provides theoretical justification for focusing on hallucination detection and risk prediction rather than complete elimination.</a:t>
            </a:r>
          </a:p>
          <a:p>
            <a:pPr algn="just" marL="491864" indent="-245932" lvl="1">
              <a:lnSpc>
                <a:spcPts val="3189"/>
              </a:lnSpc>
              <a:buFont typeface="Arial"/>
              <a:buChar char="•"/>
            </a:pPr>
            <a:r>
              <a:rPr lang="en-US" sz="2278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Motivates uncertainty-aware and meta-learning approaches that anticipate hallucinations as inevitable events.</a:t>
            </a:r>
          </a:p>
          <a:p>
            <a:pPr algn="just" marL="491864" indent="-245932" lvl="1">
              <a:lnSpc>
                <a:spcPts val="3189"/>
              </a:lnSpc>
              <a:buFont typeface="Arial"/>
              <a:buChar char="•"/>
            </a:pPr>
            <a:r>
              <a:rPr lang="en-US" sz="2278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Supports fram</a:t>
            </a:r>
            <a:r>
              <a:rPr lang="en-US" sz="2278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ing hallucination detection as a risk estimation problem instead of binary correctness.</a:t>
            </a:r>
          </a:p>
          <a:p>
            <a:pPr algn="just" marL="491864" indent="-245932" lvl="1">
              <a:lnSpc>
                <a:spcPts val="3189"/>
              </a:lnSpc>
              <a:buFont typeface="Arial"/>
              <a:buChar char="•"/>
            </a:pPr>
            <a:r>
              <a:rPr lang="en-US" sz="2278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Strengthens the need f</a:t>
            </a:r>
            <a:r>
              <a:rPr lang="en-US" sz="2278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or adaptive, task-aware meta-learning models that manage hallucination risk in real-world deployments.</a:t>
            </a:r>
          </a:p>
          <a:p>
            <a:pPr algn="just">
              <a:lnSpc>
                <a:spcPts val="318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236047" y="2211758"/>
            <a:ext cx="2581330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20"/>
              </a:lnSpc>
            </a:pPr>
            <a:r>
              <a:rPr lang="en-US" b="true" sz="3800">
                <a:solidFill>
                  <a:srgbClr val="1D242B"/>
                </a:solidFill>
                <a:latin typeface="XM Yekan Bold"/>
                <a:ea typeface="XM Yekan Bold"/>
                <a:cs typeface="XM Yekan Bold"/>
                <a:sym typeface="XM Yekan Bold"/>
              </a:rPr>
              <a:t>SUMMARY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397131" y="2309967"/>
            <a:ext cx="8890869" cy="67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95"/>
              </a:lnSpc>
            </a:pPr>
            <a:r>
              <a:rPr lang="en-US" sz="4067" b="true">
                <a:solidFill>
                  <a:srgbClr val="1D242B"/>
                </a:solidFill>
                <a:latin typeface="XM Yekan Bold"/>
                <a:ea typeface="XM Yekan Bold"/>
                <a:cs typeface="XM Yekan Bold"/>
                <a:sym typeface="XM Yekan Bold"/>
              </a:rPr>
              <a:t>RELEVANCE TO THE TOPIC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-1646723" y="7762875"/>
            <a:ext cx="4563951" cy="4114800"/>
          </a:xfrm>
          <a:custGeom>
            <a:avLst/>
            <a:gdLst/>
            <a:ahLst/>
            <a:cxnLst/>
            <a:rect r="r" b="b" t="t" l="l"/>
            <a:pathLst>
              <a:path h="4114800" w="4563951">
                <a:moveTo>
                  <a:pt x="0" y="0"/>
                </a:moveTo>
                <a:lnTo>
                  <a:pt x="4563951" y="0"/>
                </a:lnTo>
                <a:lnTo>
                  <a:pt x="456395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15383371" y="-1654683"/>
            <a:ext cx="4563951" cy="4114800"/>
          </a:xfrm>
          <a:custGeom>
            <a:avLst/>
            <a:gdLst/>
            <a:ahLst/>
            <a:cxnLst/>
            <a:rect r="r" b="b" t="t" l="l"/>
            <a:pathLst>
              <a:path h="4114800" w="4563951">
                <a:moveTo>
                  <a:pt x="456395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563950" y="0"/>
                </a:lnTo>
                <a:lnTo>
                  <a:pt x="456395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29647" y="2949591"/>
            <a:ext cx="8057131" cy="5134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2371" indent="-226185" lvl="1">
              <a:lnSpc>
                <a:spcPts val="2933"/>
              </a:lnSpc>
              <a:buFont typeface="Arial"/>
              <a:buChar char="•"/>
            </a:pPr>
            <a:r>
              <a:rPr lang="en-US" sz="209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Provides a formal theoretical analysis of hallucination in large language models.</a:t>
            </a:r>
          </a:p>
          <a:p>
            <a:pPr algn="just" marL="452371" indent="-226185" lvl="1">
              <a:lnSpc>
                <a:spcPts val="2933"/>
              </a:lnSpc>
              <a:buFont typeface="Arial"/>
              <a:buChar char="•"/>
            </a:pPr>
            <a:r>
              <a:rPr lang="en-US" sz="209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Defines hallucination as an inconsistency between a computable LLM and a computable ground-truth function.</a:t>
            </a:r>
          </a:p>
          <a:p>
            <a:pPr algn="just" marL="452371" indent="-226185" lvl="1">
              <a:lnSpc>
                <a:spcPts val="2933"/>
              </a:lnSpc>
              <a:buFont typeface="Arial"/>
              <a:buChar char="•"/>
            </a:pPr>
            <a:r>
              <a:rPr lang="en-US" sz="209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Proves, using learning theory, that hallucination cannot be completely eliminated for any computable LLM used as a general problem solver.</a:t>
            </a:r>
          </a:p>
          <a:p>
            <a:pPr algn="just" marL="452371" indent="-226185" lvl="1">
              <a:lnSpc>
                <a:spcPts val="2933"/>
              </a:lnSpc>
              <a:buFont typeface="Arial"/>
              <a:buChar char="•"/>
            </a:pPr>
            <a:r>
              <a:rPr lang="en-US" sz="209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Show</a:t>
            </a:r>
            <a:r>
              <a:rPr lang="en-US" sz="209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s that even with perfect training data, LLMs will hallucinate due to fundamental generalization limits.</a:t>
            </a:r>
          </a:p>
          <a:p>
            <a:pPr algn="just" marL="452371" indent="-226185" lvl="1">
              <a:lnSpc>
                <a:spcPts val="2933"/>
              </a:lnSpc>
              <a:buFont typeface="Arial"/>
              <a:buChar char="•"/>
            </a:pPr>
            <a:r>
              <a:rPr lang="en-US" sz="209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Id</a:t>
            </a:r>
            <a:r>
              <a:rPr lang="en-US" sz="209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entifies classes of hallucination-prone tasks and empirically validates theoretical claims.</a:t>
            </a:r>
          </a:p>
          <a:p>
            <a:pPr algn="just" marL="452371" indent="-226185" lvl="1">
              <a:lnSpc>
                <a:spcPts val="2933"/>
              </a:lnSpc>
              <a:buFont typeface="Arial"/>
              <a:buChar char="•"/>
            </a:pPr>
            <a:r>
              <a:rPr lang="en-US" sz="209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Limi</a:t>
            </a:r>
            <a:r>
              <a:rPr lang="en-US" sz="209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tations: analysis is conducted in a formalized world and does not directly provide practical detection or mitigation mechanisms.</a:t>
            </a:r>
          </a:p>
          <a:p>
            <a:pPr algn="just">
              <a:lnSpc>
                <a:spcPts val="2933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9526207" y="7076042"/>
            <a:ext cx="7070283" cy="1795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7"/>
              </a:lnSpc>
            </a:pPr>
            <a:r>
              <a:rPr lang="en-US" sz="2062">
                <a:solidFill>
                  <a:srgbClr val="1D242B"/>
                </a:solidFill>
                <a:latin typeface="Lovelo"/>
                <a:ea typeface="Lovelo"/>
                <a:cs typeface="Lovelo"/>
                <a:sym typeface="Lovelo"/>
              </a:rPr>
              <a:t>Key Takeaway</a:t>
            </a:r>
          </a:p>
          <a:p>
            <a:pPr algn="l">
              <a:lnSpc>
                <a:spcPts val="2887"/>
              </a:lnSpc>
              <a:spcBef>
                <a:spcPct val="0"/>
              </a:spcBef>
            </a:pPr>
            <a:r>
              <a:rPr lang="en-US" sz="206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Hall</a:t>
            </a:r>
            <a:r>
              <a:rPr lang="en-US" sz="206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ucinations are theoretically unavoidable in LLMs, making detecti</a:t>
            </a:r>
            <a:r>
              <a:rPr lang="en-US" sz="206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on and risk prediction—rather than elimination—a necessary research direction.</a:t>
            </a:r>
          </a:p>
          <a:p>
            <a:pPr algn="l">
              <a:lnSpc>
                <a:spcPts val="288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1" y="0"/>
                </a:lnTo>
                <a:lnTo>
                  <a:pt x="522665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3061349" y="617220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1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1" y="0"/>
                </a:lnTo>
                <a:lnTo>
                  <a:pt x="5226651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82398" y="286863"/>
            <a:ext cx="17452471" cy="9533412"/>
          </a:xfrm>
          <a:custGeom>
            <a:avLst/>
            <a:gdLst/>
            <a:ahLst/>
            <a:cxnLst/>
            <a:rect r="r" b="b" t="t" l="l"/>
            <a:pathLst>
              <a:path h="9533412" w="17452471">
                <a:moveTo>
                  <a:pt x="0" y="0"/>
                </a:moveTo>
                <a:lnTo>
                  <a:pt x="17452471" y="0"/>
                </a:lnTo>
                <a:lnTo>
                  <a:pt x="17452471" y="9533412"/>
                </a:lnTo>
                <a:lnTo>
                  <a:pt x="0" y="95334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36047" y="1059881"/>
            <a:ext cx="15815477" cy="1131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89"/>
              </a:lnSpc>
            </a:pPr>
            <a:r>
              <a:rPr lang="en-US" sz="3278">
                <a:solidFill>
                  <a:srgbClr val="1D242B"/>
                </a:solidFill>
                <a:latin typeface="Lovelo"/>
                <a:ea typeface="Lovelo"/>
                <a:cs typeface="Lovelo"/>
                <a:sym typeface="Lovelo"/>
              </a:rPr>
              <a:t>Hallucination Detection in Large Language Models with Metamorphic Relations (MetaQA, 2025)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3786" y="3140091"/>
            <a:ext cx="8521560" cy="4369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91864" indent="-245932" lvl="1">
              <a:lnSpc>
                <a:spcPts val="3189"/>
              </a:lnSpc>
              <a:buFont typeface="Arial"/>
              <a:buChar char="•"/>
            </a:pPr>
            <a:r>
              <a:rPr lang="en-US" sz="2278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Provides a black-box hallucination detection strategy, complementing uncertainty- and representation-based methods.</a:t>
            </a:r>
          </a:p>
          <a:p>
            <a:pPr algn="just" marL="491864" indent="-245932" lvl="1">
              <a:lnSpc>
                <a:spcPts val="3189"/>
              </a:lnSpc>
              <a:buFont typeface="Arial"/>
              <a:buChar char="•"/>
            </a:pPr>
            <a:r>
              <a:rPr lang="en-US" sz="2278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Supports the need for model-agnostic detection signals, which are crucial for meta-learning acr</a:t>
            </a:r>
            <a:r>
              <a:rPr lang="en-US" sz="2278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oss heterogeneous LLMs.</a:t>
            </a:r>
          </a:p>
          <a:p>
            <a:pPr algn="just" marL="491864" indent="-245932" lvl="1">
              <a:lnSpc>
                <a:spcPts val="3189"/>
              </a:lnSpc>
              <a:buFont typeface="Arial"/>
              <a:buChar char="•"/>
            </a:pPr>
            <a:r>
              <a:rPr lang="en-US" sz="2278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H</a:t>
            </a:r>
            <a:r>
              <a:rPr lang="en-US" sz="2278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ighlights the limitation of rule-based detection, motivating learning-based risk prediction instead of fixed logical checks.</a:t>
            </a:r>
          </a:p>
          <a:p>
            <a:pPr algn="just" marL="491864" indent="-245932" lvl="1">
              <a:lnSpc>
                <a:spcPts val="3189"/>
              </a:lnSpc>
              <a:buFont typeface="Arial"/>
              <a:buChar char="•"/>
            </a:pPr>
            <a:r>
              <a:rPr lang="en-US" sz="2278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Can serve as a baseline detector whose outputs may be integrated into a meta-learning framework for adaptive hallucination risk estimation.</a:t>
            </a:r>
          </a:p>
          <a:p>
            <a:pPr algn="just">
              <a:lnSpc>
                <a:spcPts val="318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236047" y="2211758"/>
            <a:ext cx="2581330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20"/>
              </a:lnSpc>
            </a:pPr>
            <a:r>
              <a:rPr lang="en-US" b="true" sz="3800">
                <a:solidFill>
                  <a:srgbClr val="1D242B"/>
                </a:solidFill>
                <a:latin typeface="XM Yekan Bold"/>
                <a:ea typeface="XM Yekan Bold"/>
                <a:cs typeface="XM Yekan Bold"/>
                <a:sym typeface="XM Yekan Bold"/>
              </a:rPr>
              <a:t>SUMMARY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397131" y="2309967"/>
            <a:ext cx="8890869" cy="67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95"/>
              </a:lnSpc>
            </a:pPr>
            <a:r>
              <a:rPr lang="en-US" sz="4067" b="true">
                <a:solidFill>
                  <a:srgbClr val="1D242B"/>
                </a:solidFill>
                <a:latin typeface="XM Yekan Bold"/>
                <a:ea typeface="XM Yekan Bold"/>
                <a:cs typeface="XM Yekan Bold"/>
                <a:sym typeface="XM Yekan Bold"/>
              </a:rPr>
              <a:t>RELEVANCE TO THE TOPIC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-1646723" y="7762875"/>
            <a:ext cx="4563951" cy="4114800"/>
          </a:xfrm>
          <a:custGeom>
            <a:avLst/>
            <a:gdLst/>
            <a:ahLst/>
            <a:cxnLst/>
            <a:rect r="r" b="b" t="t" l="l"/>
            <a:pathLst>
              <a:path h="4114800" w="4563951">
                <a:moveTo>
                  <a:pt x="0" y="0"/>
                </a:moveTo>
                <a:lnTo>
                  <a:pt x="4563951" y="0"/>
                </a:lnTo>
                <a:lnTo>
                  <a:pt x="456395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15383371" y="-1654683"/>
            <a:ext cx="4563951" cy="4114800"/>
          </a:xfrm>
          <a:custGeom>
            <a:avLst/>
            <a:gdLst/>
            <a:ahLst/>
            <a:cxnLst/>
            <a:rect r="r" b="b" t="t" l="l"/>
            <a:pathLst>
              <a:path h="4114800" w="4563951">
                <a:moveTo>
                  <a:pt x="456395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563950" y="0"/>
                </a:lnTo>
                <a:lnTo>
                  <a:pt x="456395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29647" y="2949591"/>
            <a:ext cx="8057131" cy="5501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2371" indent="-226185" lvl="1">
              <a:lnSpc>
                <a:spcPts val="2933"/>
              </a:lnSpc>
              <a:buFont typeface="Arial"/>
              <a:buChar char="•"/>
            </a:pPr>
            <a:r>
              <a:rPr lang="en-US" sz="209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Proposes MetaQA, a zero-resource hallucination detection method based on metamorphic relations (MRs) inspired by software testing.</a:t>
            </a:r>
          </a:p>
          <a:p>
            <a:pPr algn="just" marL="452371" indent="-226185" lvl="1">
              <a:lnSpc>
                <a:spcPts val="2933"/>
              </a:lnSpc>
              <a:buFont typeface="Arial"/>
              <a:buChar char="•"/>
            </a:pPr>
            <a:r>
              <a:rPr lang="en-US" sz="209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De</a:t>
            </a:r>
            <a:r>
              <a:rPr lang="en-US" sz="209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tects hallucinations by mutating prompts and checking whether expected semantic relations between responses are preserved.</a:t>
            </a:r>
          </a:p>
          <a:p>
            <a:pPr algn="just" marL="452371" indent="-226185" lvl="1">
              <a:lnSpc>
                <a:spcPts val="2933"/>
              </a:lnSpc>
              <a:buFont typeface="Arial"/>
              <a:buChar char="•"/>
            </a:pPr>
            <a:r>
              <a:rPr lang="en-US" sz="209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Ope</a:t>
            </a:r>
            <a:r>
              <a:rPr lang="en-US" sz="209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rates without external knowledge bases and does not require token probabilities or model internals.</a:t>
            </a:r>
          </a:p>
          <a:p>
            <a:pPr algn="just" marL="452371" indent="-226185" lvl="1">
              <a:lnSpc>
                <a:spcPts val="2933"/>
              </a:lnSpc>
              <a:buFont typeface="Arial"/>
              <a:buChar char="•"/>
            </a:pPr>
            <a:r>
              <a:rPr lang="en-US" sz="209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Applicable to both open-source and closed-source LLMs (e.g., GPT-4, Mistral).</a:t>
            </a:r>
          </a:p>
          <a:p>
            <a:pPr algn="just" marL="452371" indent="-226185" lvl="1">
              <a:lnSpc>
                <a:spcPts val="2933"/>
              </a:lnSpc>
              <a:buFont typeface="Arial"/>
              <a:buChar char="•"/>
            </a:pPr>
            <a:r>
              <a:rPr lang="en-US" sz="209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Demonstrates improved precision, recall, and F1-score compared to SelfCheckGPT across multiple QA datasets.</a:t>
            </a:r>
          </a:p>
          <a:p>
            <a:pPr algn="just" marL="452371" indent="-226185" lvl="1">
              <a:lnSpc>
                <a:spcPts val="2933"/>
              </a:lnSpc>
              <a:buFont typeface="Arial"/>
              <a:buChar char="•"/>
            </a:pPr>
            <a:r>
              <a:rPr lang="en-US" sz="209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Limi</a:t>
            </a:r>
            <a:r>
              <a:rPr lang="en-US" sz="209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tations: detection depends on the quality of designed metamorphic relations and provides binary detection rather than calibrated risk estimation.</a:t>
            </a:r>
          </a:p>
          <a:p>
            <a:pPr algn="just">
              <a:lnSpc>
                <a:spcPts val="2933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9397131" y="7462831"/>
            <a:ext cx="7351760" cy="1795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7"/>
              </a:lnSpc>
            </a:pPr>
            <a:r>
              <a:rPr lang="en-US" sz="2062">
                <a:solidFill>
                  <a:srgbClr val="1D242B"/>
                </a:solidFill>
                <a:latin typeface="Lovelo"/>
                <a:ea typeface="Lovelo"/>
                <a:cs typeface="Lovelo"/>
                <a:sym typeface="Lovelo"/>
              </a:rPr>
              <a:t>Key Takeaway</a:t>
            </a:r>
          </a:p>
          <a:p>
            <a:pPr algn="l">
              <a:lnSpc>
                <a:spcPts val="2887"/>
              </a:lnSpc>
              <a:spcBef>
                <a:spcPct val="0"/>
              </a:spcBef>
            </a:pPr>
            <a:r>
              <a:rPr lang="en-US" sz="206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Metamorphic-rel</a:t>
            </a:r>
            <a:r>
              <a:rPr lang="en-US" sz="206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ation testing enables black-box hallucination detecti</a:t>
            </a:r>
            <a:r>
              <a:rPr lang="en-US" sz="206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on, motivating meta-learning approaches that generalize detection and risk prediction across models and tasks.</a:t>
            </a:r>
          </a:p>
          <a:p>
            <a:pPr algn="l">
              <a:lnSpc>
                <a:spcPts val="288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1" y="0"/>
                </a:lnTo>
                <a:lnTo>
                  <a:pt x="522665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3061349" y="617220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1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1" y="0"/>
                </a:lnTo>
                <a:lnTo>
                  <a:pt x="5226651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82398" y="286863"/>
            <a:ext cx="17452471" cy="9533412"/>
          </a:xfrm>
          <a:custGeom>
            <a:avLst/>
            <a:gdLst/>
            <a:ahLst/>
            <a:cxnLst/>
            <a:rect r="r" b="b" t="t" l="l"/>
            <a:pathLst>
              <a:path h="9533412" w="17452471">
                <a:moveTo>
                  <a:pt x="0" y="0"/>
                </a:moveTo>
                <a:lnTo>
                  <a:pt x="17452471" y="0"/>
                </a:lnTo>
                <a:lnTo>
                  <a:pt x="17452471" y="9533412"/>
                </a:lnTo>
                <a:lnTo>
                  <a:pt x="0" y="95334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36047" y="1059881"/>
            <a:ext cx="15815477" cy="1131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89"/>
              </a:lnSpc>
            </a:pPr>
            <a:r>
              <a:rPr lang="en-US" sz="3278">
                <a:solidFill>
                  <a:srgbClr val="1D242B"/>
                </a:solidFill>
                <a:latin typeface="Lovelo"/>
                <a:ea typeface="Lovelo"/>
                <a:cs typeface="Lovelo"/>
                <a:sym typeface="Lovelo"/>
              </a:rPr>
              <a:t>LLM Hallucination Detection via Hidden Layer Temporal Signals (HSAD, 2025)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3786" y="3144283"/>
            <a:ext cx="8521560" cy="3569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91864" indent="-245932" lvl="1">
              <a:lnSpc>
                <a:spcPts val="3189"/>
              </a:lnSpc>
              <a:buFont typeface="Arial"/>
              <a:buChar char="•"/>
            </a:pPr>
            <a:r>
              <a:rPr lang="en-US" sz="2278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Demonstrates that hallucinations manifest as dynamic instabilities in internal representations, not just output errors.</a:t>
            </a:r>
          </a:p>
          <a:p>
            <a:pPr algn="just" marL="491864" indent="-245932" lvl="1">
              <a:lnSpc>
                <a:spcPts val="3189"/>
              </a:lnSpc>
              <a:buFont typeface="Arial"/>
              <a:buChar char="•"/>
            </a:pPr>
            <a:r>
              <a:rPr lang="en-US" sz="2278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Complements semantic entropy and truth-probe methods by capturing temporal reasoning behavior.</a:t>
            </a:r>
          </a:p>
          <a:p>
            <a:pPr algn="just" marL="491864" indent="-245932" lvl="1">
              <a:lnSpc>
                <a:spcPts val="3189"/>
              </a:lnSpc>
              <a:buFont typeface="Arial"/>
              <a:buChar char="•"/>
            </a:pPr>
            <a:r>
              <a:rPr lang="en-US" sz="2278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Provides r</a:t>
            </a:r>
            <a:r>
              <a:rPr lang="en-US" sz="2278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ich internal features that can be leveraged by meta-learning models for cross-task hallucination detection.</a:t>
            </a:r>
          </a:p>
          <a:p>
            <a:pPr algn="just" marL="491864" indent="-245932" lvl="1">
              <a:lnSpc>
                <a:spcPts val="3189"/>
              </a:lnSpc>
              <a:buFont typeface="Arial"/>
              <a:buChar char="•"/>
            </a:pPr>
            <a:r>
              <a:rPr lang="en-US" sz="2278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Motivates risk prediction based on internal signal patterns rather than static confidence scores alone.</a:t>
            </a:r>
          </a:p>
          <a:p>
            <a:pPr algn="just">
              <a:lnSpc>
                <a:spcPts val="318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236047" y="2211758"/>
            <a:ext cx="2581330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20"/>
              </a:lnSpc>
            </a:pPr>
            <a:r>
              <a:rPr lang="en-US" b="true" sz="3800">
                <a:solidFill>
                  <a:srgbClr val="1D242B"/>
                </a:solidFill>
                <a:latin typeface="XM Yekan Bold"/>
                <a:ea typeface="XM Yekan Bold"/>
                <a:cs typeface="XM Yekan Bold"/>
                <a:sym typeface="XM Yekan Bold"/>
              </a:rPr>
              <a:t>SUMMARY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397131" y="2309967"/>
            <a:ext cx="8890869" cy="67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95"/>
              </a:lnSpc>
            </a:pPr>
            <a:r>
              <a:rPr lang="en-US" sz="4067" b="true">
                <a:solidFill>
                  <a:srgbClr val="1D242B"/>
                </a:solidFill>
                <a:latin typeface="XM Yekan Bold"/>
                <a:ea typeface="XM Yekan Bold"/>
                <a:cs typeface="XM Yekan Bold"/>
                <a:sym typeface="XM Yekan Bold"/>
              </a:rPr>
              <a:t>RELEVANCE TO THE TOPIC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-1646723" y="7762875"/>
            <a:ext cx="4563951" cy="4114800"/>
          </a:xfrm>
          <a:custGeom>
            <a:avLst/>
            <a:gdLst/>
            <a:ahLst/>
            <a:cxnLst/>
            <a:rect r="r" b="b" t="t" l="l"/>
            <a:pathLst>
              <a:path h="4114800" w="4563951">
                <a:moveTo>
                  <a:pt x="0" y="0"/>
                </a:moveTo>
                <a:lnTo>
                  <a:pt x="4563951" y="0"/>
                </a:lnTo>
                <a:lnTo>
                  <a:pt x="456395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15383371" y="-1654683"/>
            <a:ext cx="4563951" cy="4114800"/>
          </a:xfrm>
          <a:custGeom>
            <a:avLst/>
            <a:gdLst/>
            <a:ahLst/>
            <a:cxnLst/>
            <a:rect r="r" b="b" t="t" l="l"/>
            <a:pathLst>
              <a:path h="4114800" w="4563951">
                <a:moveTo>
                  <a:pt x="456395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563950" y="0"/>
                </a:lnTo>
                <a:lnTo>
                  <a:pt x="456395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29647" y="2949591"/>
            <a:ext cx="8057131" cy="5869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2371" indent="-226185" lvl="1">
              <a:lnSpc>
                <a:spcPts val="2933"/>
              </a:lnSpc>
              <a:buFont typeface="Arial"/>
              <a:buChar char="•"/>
            </a:pPr>
            <a:r>
              <a:rPr lang="en-US" sz="209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Proposes HSAD, a hallucination detection framework based on temporal dynamics of hidden-layer representations during autoregressive generation.</a:t>
            </a:r>
          </a:p>
          <a:p>
            <a:pPr algn="just" marL="452371" indent="-226185" lvl="1">
              <a:lnSpc>
                <a:spcPts val="2933"/>
              </a:lnSpc>
              <a:buFont typeface="Arial"/>
              <a:buChar char="•"/>
            </a:pPr>
            <a:r>
              <a:rPr lang="en-US" sz="209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M</a:t>
            </a:r>
            <a:r>
              <a:rPr lang="en-US" sz="209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odels hidden states across layers as a temporal signal, inspired by cognitive neuroscience and human deception detection.</a:t>
            </a:r>
          </a:p>
          <a:p>
            <a:pPr algn="just" marL="452371" indent="-226185" lvl="1">
              <a:lnSpc>
                <a:spcPts val="2933"/>
              </a:lnSpc>
              <a:buFont typeface="Arial"/>
              <a:buChar char="•"/>
            </a:pPr>
            <a:r>
              <a:rPr lang="en-US" sz="209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Applies Fast Fourier Transform (FFT) to convert hidden-layer signals into the frequency domain and extract discriminative spectral features.</a:t>
            </a:r>
          </a:p>
          <a:p>
            <a:pPr algn="just" marL="452371" indent="-226185" lvl="1">
              <a:lnSpc>
                <a:spcPts val="2933"/>
              </a:lnSpc>
              <a:buFont typeface="Arial"/>
              <a:buChar char="•"/>
            </a:pPr>
            <a:r>
              <a:rPr lang="en-US" sz="209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Identifies hallucinations as anomalous frequency patterns arising from internal reasoning instability.</a:t>
            </a:r>
          </a:p>
          <a:p>
            <a:pPr algn="just" marL="452371" indent="-226185" lvl="1">
              <a:lnSpc>
                <a:spcPts val="2933"/>
              </a:lnSpc>
              <a:buFont typeface="Arial"/>
              <a:buChar char="•"/>
            </a:pPr>
            <a:r>
              <a:rPr lang="en-US" sz="209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Achieves significant performance gains on benchmarks such as TruthfulQA, outperforming prior state-of-the-art methods.</a:t>
            </a:r>
          </a:p>
          <a:p>
            <a:pPr algn="just" marL="452371" indent="-226185" lvl="1">
              <a:lnSpc>
                <a:spcPts val="2933"/>
              </a:lnSpc>
              <a:buFont typeface="Arial"/>
              <a:buChar char="•"/>
            </a:pPr>
            <a:r>
              <a:rPr lang="en-US" sz="209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Limi</a:t>
            </a:r>
            <a:r>
              <a:rPr lang="en-US" sz="209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tations: requires access to internal model activations and is computationally intensive due to signal extraction and transformation.</a:t>
            </a:r>
          </a:p>
          <a:p>
            <a:pPr algn="just">
              <a:lnSpc>
                <a:spcPts val="2933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9577369" y="6847577"/>
            <a:ext cx="7654394" cy="1500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6"/>
              </a:lnSpc>
            </a:pPr>
            <a:r>
              <a:rPr lang="en-US" sz="2147">
                <a:solidFill>
                  <a:srgbClr val="1D242B"/>
                </a:solidFill>
                <a:latin typeface="Lovelo"/>
                <a:ea typeface="Lovelo"/>
                <a:cs typeface="Lovelo"/>
                <a:sym typeface="Lovelo"/>
              </a:rPr>
              <a:t>Key Takeaway</a:t>
            </a:r>
          </a:p>
          <a:p>
            <a:pPr algn="l">
              <a:lnSpc>
                <a:spcPts val="3006"/>
              </a:lnSpc>
              <a:spcBef>
                <a:spcPct val="0"/>
              </a:spcBef>
            </a:pPr>
            <a:r>
              <a:rPr lang="en-US" sz="2147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Hallucin</a:t>
            </a:r>
            <a:r>
              <a:rPr lang="en-US" sz="2147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ations leave detectable temporal signatures in LLM hidden states</a:t>
            </a:r>
            <a:r>
              <a:rPr lang="en-US" sz="2147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, offering strong internal signals for meta-learning–based detection and risk prediction.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1" y="0"/>
                </a:lnTo>
                <a:lnTo>
                  <a:pt x="522665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3061349" y="617220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1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1" y="0"/>
                </a:lnTo>
                <a:lnTo>
                  <a:pt x="5226651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82398" y="286863"/>
            <a:ext cx="17452471" cy="9533412"/>
          </a:xfrm>
          <a:custGeom>
            <a:avLst/>
            <a:gdLst/>
            <a:ahLst/>
            <a:cxnLst/>
            <a:rect r="r" b="b" t="t" l="l"/>
            <a:pathLst>
              <a:path h="9533412" w="17452471">
                <a:moveTo>
                  <a:pt x="0" y="0"/>
                </a:moveTo>
                <a:lnTo>
                  <a:pt x="17452471" y="0"/>
                </a:lnTo>
                <a:lnTo>
                  <a:pt x="17452471" y="9533412"/>
                </a:lnTo>
                <a:lnTo>
                  <a:pt x="0" y="95334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36047" y="1059881"/>
            <a:ext cx="15815477" cy="557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89"/>
              </a:lnSpc>
            </a:pPr>
            <a:r>
              <a:rPr lang="en-US" sz="3278">
                <a:solidFill>
                  <a:srgbClr val="1D242B"/>
                </a:solidFill>
                <a:latin typeface="Lovelo"/>
                <a:ea typeface="Lovelo"/>
                <a:cs typeface="Lovelo"/>
                <a:sym typeface="Lovelo"/>
              </a:rPr>
              <a:t>Why Language Models Hallucinate (Kalai et al., 2025)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949261" y="3089480"/>
            <a:ext cx="8501371" cy="3695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06699" indent="-253349" lvl="1">
              <a:lnSpc>
                <a:spcPts val="3285"/>
              </a:lnSpc>
              <a:buFont typeface="Arial"/>
              <a:buChar char="•"/>
            </a:pPr>
            <a:r>
              <a:rPr lang="en-US" sz="2346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Provides a statistical explanation for why hallucination risk must be predicted rather than eliminated.</a:t>
            </a:r>
          </a:p>
          <a:p>
            <a:pPr algn="just" marL="506699" indent="-253349" lvl="1">
              <a:lnSpc>
                <a:spcPts val="3285"/>
              </a:lnSpc>
              <a:buFont typeface="Arial"/>
              <a:buChar char="•"/>
            </a:pPr>
            <a:r>
              <a:rPr lang="en-US" sz="2346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Reinf</a:t>
            </a:r>
            <a:r>
              <a:rPr lang="en-US" sz="2346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orces the need for risk-aware systems that can identify when models are likely guessing.</a:t>
            </a:r>
          </a:p>
          <a:p>
            <a:pPr algn="just" marL="506699" indent="-253349" lvl="1">
              <a:lnSpc>
                <a:spcPts val="3285"/>
              </a:lnSpc>
              <a:buFont typeface="Arial"/>
              <a:buChar char="•"/>
            </a:pPr>
            <a:r>
              <a:rPr lang="en-US" sz="2346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Supports uncertainty- and signal-based approaches as in</a:t>
            </a:r>
            <a:r>
              <a:rPr lang="en-US" sz="2346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puts to</a:t>
            </a:r>
            <a:r>
              <a:rPr lang="en-US" sz="2346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 meta-learning–based hallucination risk prediction.</a:t>
            </a:r>
          </a:p>
          <a:p>
            <a:pPr algn="just" marL="506699" indent="-253349" lvl="1">
              <a:lnSpc>
                <a:spcPts val="3285"/>
              </a:lnSpc>
              <a:buFont typeface="Arial"/>
              <a:buChar char="•"/>
            </a:pPr>
            <a:r>
              <a:rPr lang="en-US" sz="2346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Motivates evaluation frameworks that reward calibrated abstention, aligning with risk prediction objectives.</a:t>
            </a:r>
          </a:p>
          <a:p>
            <a:pPr algn="just">
              <a:lnSpc>
                <a:spcPts val="3285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236047" y="2211758"/>
            <a:ext cx="2581330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20"/>
              </a:lnSpc>
            </a:pPr>
            <a:r>
              <a:rPr lang="en-US" b="true" sz="3800">
                <a:solidFill>
                  <a:srgbClr val="1D242B"/>
                </a:solidFill>
                <a:latin typeface="XM Yekan Bold"/>
                <a:ea typeface="XM Yekan Bold"/>
                <a:cs typeface="XM Yekan Bold"/>
                <a:sym typeface="XM Yekan Bold"/>
              </a:rPr>
              <a:t>SUMMARY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49261" y="2200873"/>
            <a:ext cx="8890869" cy="67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95"/>
              </a:lnSpc>
            </a:pPr>
            <a:r>
              <a:rPr lang="en-US" sz="4067" b="true">
                <a:solidFill>
                  <a:srgbClr val="1D242B"/>
                </a:solidFill>
                <a:latin typeface="XM Yekan Bold"/>
                <a:ea typeface="XM Yekan Bold"/>
                <a:cs typeface="XM Yekan Bold"/>
                <a:sym typeface="XM Yekan Bold"/>
              </a:rPr>
              <a:t>RELEVANCE TO THE TOPIC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-1646723" y="7762875"/>
            <a:ext cx="4563951" cy="4114800"/>
          </a:xfrm>
          <a:custGeom>
            <a:avLst/>
            <a:gdLst/>
            <a:ahLst/>
            <a:cxnLst/>
            <a:rect r="r" b="b" t="t" l="l"/>
            <a:pathLst>
              <a:path h="4114800" w="4563951">
                <a:moveTo>
                  <a:pt x="0" y="0"/>
                </a:moveTo>
                <a:lnTo>
                  <a:pt x="4563951" y="0"/>
                </a:lnTo>
                <a:lnTo>
                  <a:pt x="456395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15383371" y="-1654683"/>
            <a:ext cx="4563951" cy="4114800"/>
          </a:xfrm>
          <a:custGeom>
            <a:avLst/>
            <a:gdLst/>
            <a:ahLst/>
            <a:cxnLst/>
            <a:rect r="r" b="b" t="t" l="l"/>
            <a:pathLst>
              <a:path h="4114800" w="4563951">
                <a:moveTo>
                  <a:pt x="456395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563950" y="0"/>
                </a:lnTo>
                <a:lnTo>
                  <a:pt x="456395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29647" y="2949591"/>
            <a:ext cx="7800159" cy="5736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1831" indent="-235916" lvl="1">
              <a:lnSpc>
                <a:spcPts val="3059"/>
              </a:lnSpc>
              <a:buFont typeface="Arial"/>
              <a:buChar char="•"/>
            </a:pPr>
            <a:r>
              <a:rPr lang="en-US" sz="218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Analyzes hallucinations as a consequence of statistical learning and evaluation objectives in modern LLM training.</a:t>
            </a:r>
          </a:p>
          <a:p>
            <a:pPr algn="just" marL="471831" indent="-235916" lvl="1">
              <a:lnSpc>
                <a:spcPts val="3059"/>
              </a:lnSpc>
              <a:buFont typeface="Arial"/>
              <a:buChar char="•"/>
            </a:pPr>
            <a:r>
              <a:rPr lang="en-US" sz="218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Argues that LLMs are incentivized to guess when uncertain, since benchmark evaluations reward plausible answers over abstention.</a:t>
            </a:r>
          </a:p>
          <a:p>
            <a:pPr algn="just" marL="471831" indent="-235916" lvl="1">
              <a:lnSpc>
                <a:spcPts val="3059"/>
              </a:lnSpc>
              <a:buFont typeface="Arial"/>
              <a:buChar char="•"/>
            </a:pPr>
            <a:r>
              <a:rPr lang="en-US" sz="218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F</a:t>
            </a:r>
            <a:r>
              <a:rPr lang="en-US" sz="218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ormalizes hallucination as an error arising from binary classification ambiguity between valid and invalid outputs.</a:t>
            </a:r>
          </a:p>
          <a:p>
            <a:pPr algn="just" marL="471831" indent="-235916" lvl="1">
              <a:lnSpc>
                <a:spcPts val="3059"/>
              </a:lnSpc>
              <a:buFont typeface="Arial"/>
              <a:buChar char="•"/>
            </a:pPr>
            <a:r>
              <a:rPr lang="en-US" sz="218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Show</a:t>
            </a:r>
            <a:r>
              <a:rPr lang="en-US" sz="218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s that hallucinations persist even with high-quality training data due to misaligned scoring and optimization pressures.</a:t>
            </a:r>
          </a:p>
          <a:p>
            <a:pPr algn="just" marL="471831" indent="-235916" lvl="1">
              <a:lnSpc>
                <a:spcPts val="3059"/>
              </a:lnSpc>
              <a:buFont typeface="Arial"/>
              <a:buChar char="•"/>
            </a:pPr>
            <a:r>
              <a:rPr lang="en-US" sz="218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Highlights that hallucination is not mysterious but a systematic outcome of training and evaluation pipelines.</a:t>
            </a:r>
          </a:p>
          <a:p>
            <a:pPr algn="just" marL="471831" indent="-235916" lvl="1">
              <a:lnSpc>
                <a:spcPts val="3059"/>
              </a:lnSpc>
              <a:buFont typeface="Arial"/>
              <a:buChar char="•"/>
            </a:pPr>
            <a:r>
              <a:rPr lang="en-US" sz="218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Limi</a:t>
            </a:r>
            <a:r>
              <a:rPr lang="en-US" sz="218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tations: focuses on explaining causes rather than proposing concrete detection or mitigation methods.</a:t>
            </a:r>
          </a:p>
          <a:p>
            <a:pPr algn="just">
              <a:lnSpc>
                <a:spcPts val="3059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9143786" y="6996162"/>
            <a:ext cx="7577024" cy="1485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5"/>
              </a:lnSpc>
            </a:pPr>
            <a:r>
              <a:rPr lang="en-US" sz="2125">
                <a:solidFill>
                  <a:srgbClr val="1D242B"/>
                </a:solidFill>
                <a:latin typeface="Lovelo"/>
                <a:ea typeface="Lovelo"/>
                <a:cs typeface="Lovelo"/>
                <a:sym typeface="Lovelo"/>
              </a:rPr>
              <a:t>Key Takeaway</a:t>
            </a:r>
          </a:p>
          <a:p>
            <a:pPr algn="l">
              <a:lnSpc>
                <a:spcPts val="2975"/>
              </a:lnSpc>
              <a:spcBef>
                <a:spcPct val="0"/>
              </a:spcBef>
            </a:pPr>
            <a:r>
              <a:rPr lang="en-US" sz="212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H</a:t>
            </a:r>
            <a:r>
              <a:rPr lang="en-US" sz="212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a</a:t>
            </a:r>
            <a:r>
              <a:rPr lang="en-US" sz="212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l</a:t>
            </a:r>
            <a:r>
              <a:rPr lang="en-US" sz="212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l</a:t>
            </a:r>
            <a:r>
              <a:rPr lang="en-US" sz="212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ucin</a:t>
            </a:r>
            <a:r>
              <a:rPr lang="en-US" sz="212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ation</a:t>
            </a:r>
            <a:r>
              <a:rPr lang="en-US" sz="212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s</a:t>
            </a:r>
            <a:r>
              <a:rPr lang="en-US" sz="212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 </a:t>
            </a:r>
            <a:r>
              <a:rPr lang="en-US" sz="212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aris</a:t>
            </a:r>
            <a:r>
              <a:rPr lang="en-US" sz="212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e</a:t>
            </a:r>
            <a:r>
              <a:rPr lang="en-US" sz="212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 from </a:t>
            </a:r>
            <a:r>
              <a:rPr lang="en-US" sz="212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t</a:t>
            </a:r>
            <a:r>
              <a:rPr lang="en-US" sz="212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ra</a:t>
            </a:r>
            <a:r>
              <a:rPr lang="en-US" sz="212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in</a:t>
            </a:r>
            <a:r>
              <a:rPr lang="en-US" sz="212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i</a:t>
            </a:r>
            <a:r>
              <a:rPr lang="en-US" sz="212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n</a:t>
            </a:r>
            <a:r>
              <a:rPr lang="en-US" sz="212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g</a:t>
            </a:r>
            <a:r>
              <a:rPr lang="en-US" sz="212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 a</a:t>
            </a:r>
            <a:r>
              <a:rPr lang="en-US" sz="212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nd</a:t>
            </a:r>
            <a:r>
              <a:rPr lang="en-US" sz="212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 </a:t>
            </a:r>
            <a:r>
              <a:rPr lang="en-US" sz="212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ev</a:t>
            </a:r>
            <a:r>
              <a:rPr lang="en-US" sz="212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aluation </a:t>
            </a:r>
            <a:r>
              <a:rPr lang="en-US" sz="212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inc</a:t>
            </a:r>
            <a:r>
              <a:rPr lang="en-US" sz="212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e</a:t>
            </a:r>
            <a:r>
              <a:rPr lang="en-US" sz="212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n</a:t>
            </a:r>
            <a:r>
              <a:rPr lang="en-US" sz="212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t</a:t>
            </a:r>
            <a:r>
              <a:rPr lang="en-US" sz="212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iv</a:t>
            </a:r>
            <a:r>
              <a:rPr lang="en-US" sz="212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e</a:t>
            </a:r>
            <a:r>
              <a:rPr lang="en-US" sz="212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s</a:t>
            </a:r>
            <a:r>
              <a:rPr lang="en-US" sz="212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 t</a:t>
            </a:r>
            <a:r>
              <a:rPr lang="en-US" sz="212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h</a:t>
            </a:r>
            <a:r>
              <a:rPr lang="en-US" sz="212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at</a:t>
            </a:r>
            <a:r>
              <a:rPr lang="en-US" sz="212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 reward guess</a:t>
            </a:r>
            <a:r>
              <a:rPr lang="en-US" sz="212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ing</a:t>
            </a:r>
            <a:r>
              <a:rPr lang="en-US" sz="212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,</a:t>
            </a:r>
            <a:r>
              <a:rPr lang="en-US" sz="212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 ma</a:t>
            </a:r>
            <a:r>
              <a:rPr lang="en-US" sz="212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k</a:t>
            </a:r>
            <a:r>
              <a:rPr lang="en-US" sz="212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ing r</a:t>
            </a:r>
            <a:r>
              <a:rPr lang="en-US" sz="212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isk-</a:t>
            </a:r>
            <a:r>
              <a:rPr lang="en-US" sz="212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a</a:t>
            </a:r>
            <a:r>
              <a:rPr lang="en-US" sz="212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w</a:t>
            </a:r>
            <a:r>
              <a:rPr lang="en-US" sz="212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are detection and prediction </a:t>
            </a:r>
            <a:r>
              <a:rPr lang="en-US" sz="212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e</a:t>
            </a:r>
            <a:r>
              <a:rPr lang="en-US" sz="212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ssent</a:t>
            </a:r>
            <a:r>
              <a:rPr lang="en-US" sz="212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i</a:t>
            </a:r>
            <a:r>
              <a:rPr lang="en-US" sz="212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a</a:t>
            </a:r>
            <a:r>
              <a:rPr lang="en-US" sz="212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l</a:t>
            </a:r>
            <a:r>
              <a:rPr lang="en-US" sz="2125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1" y="0"/>
                </a:lnTo>
                <a:lnTo>
                  <a:pt x="522665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3061349" y="617220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1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1" y="0"/>
                </a:lnTo>
                <a:lnTo>
                  <a:pt x="5226651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82398" y="286863"/>
            <a:ext cx="17452471" cy="9533412"/>
          </a:xfrm>
          <a:custGeom>
            <a:avLst/>
            <a:gdLst/>
            <a:ahLst/>
            <a:cxnLst/>
            <a:rect r="r" b="b" t="t" l="l"/>
            <a:pathLst>
              <a:path h="9533412" w="17452471">
                <a:moveTo>
                  <a:pt x="0" y="0"/>
                </a:moveTo>
                <a:lnTo>
                  <a:pt x="17452471" y="0"/>
                </a:lnTo>
                <a:lnTo>
                  <a:pt x="17452471" y="9533412"/>
                </a:lnTo>
                <a:lnTo>
                  <a:pt x="0" y="95334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36047" y="1059881"/>
            <a:ext cx="15815477" cy="1131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89"/>
              </a:lnSpc>
            </a:pPr>
            <a:r>
              <a:rPr lang="en-US" sz="3278">
                <a:solidFill>
                  <a:srgbClr val="1D242B"/>
                </a:solidFill>
                <a:latin typeface="Lovelo"/>
                <a:ea typeface="Lovelo"/>
                <a:cs typeface="Lovelo"/>
                <a:sym typeface="Lovelo"/>
              </a:rPr>
              <a:t>Hallucination is Inevitable for LLMs under the Open World Assumption (Xu, 2025)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908682" y="3361268"/>
            <a:ext cx="8305334" cy="4081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03369" indent="-251684" lvl="1">
              <a:lnSpc>
                <a:spcPts val="3264"/>
              </a:lnSpc>
              <a:buFont typeface="Arial"/>
              <a:buChar char="•"/>
            </a:pP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Provides a real-world theoretical justification for hallucination risk prediction under open-ended deployment conditions.</a:t>
            </a:r>
          </a:p>
          <a:p>
            <a:pPr algn="just" marL="503369" indent="-251684" lvl="1">
              <a:lnSpc>
                <a:spcPts val="3264"/>
              </a:lnSpc>
              <a:buFont typeface="Arial"/>
              <a:buChar char="•"/>
            </a:pP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Strengthens the motivation for meta-learning, which enables adaptation across evolving tasks and domains.</a:t>
            </a:r>
          </a:p>
          <a:p>
            <a:pPr algn="just" marL="503369" indent="-251684" lvl="1">
              <a:lnSpc>
                <a:spcPts val="3264"/>
              </a:lnSpc>
              <a:buFont typeface="Arial"/>
              <a:buChar char="•"/>
            </a:pP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Supports treat</a:t>
            </a: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ing hallucination detection as probabilistic risk estimation rather than absolute correctness checking.</a:t>
            </a:r>
          </a:p>
          <a:p>
            <a:pPr algn="just" marL="503369" indent="-251684" lvl="1">
              <a:lnSpc>
                <a:spcPts val="3264"/>
              </a:lnSpc>
              <a:buFont typeface="Arial"/>
              <a:buChar char="•"/>
            </a:pP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Reinforces the need for adaptive, task-aware hallucination management in practical LLM systems.</a:t>
            </a:r>
          </a:p>
          <a:p>
            <a:pPr algn="just">
              <a:lnSpc>
                <a:spcPts val="3264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236047" y="2211758"/>
            <a:ext cx="2581330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20"/>
              </a:lnSpc>
            </a:pPr>
            <a:r>
              <a:rPr lang="en-US" b="true" sz="3800">
                <a:solidFill>
                  <a:srgbClr val="1D242B"/>
                </a:solidFill>
                <a:latin typeface="XM Yekan Bold"/>
                <a:ea typeface="XM Yekan Bold"/>
                <a:cs typeface="XM Yekan Bold"/>
                <a:sym typeface="XM Yekan Bold"/>
              </a:rPr>
              <a:t>SUMMARY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397131" y="2309967"/>
            <a:ext cx="8890869" cy="67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95"/>
              </a:lnSpc>
            </a:pPr>
            <a:r>
              <a:rPr lang="en-US" sz="4067" b="true">
                <a:solidFill>
                  <a:srgbClr val="1D242B"/>
                </a:solidFill>
                <a:latin typeface="XM Yekan Bold"/>
                <a:ea typeface="XM Yekan Bold"/>
                <a:cs typeface="XM Yekan Bold"/>
                <a:sym typeface="XM Yekan Bold"/>
              </a:rPr>
              <a:t>RELEVANCE TO THE TOPIC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-1646723" y="7762875"/>
            <a:ext cx="4563951" cy="4114800"/>
          </a:xfrm>
          <a:custGeom>
            <a:avLst/>
            <a:gdLst/>
            <a:ahLst/>
            <a:cxnLst/>
            <a:rect r="r" b="b" t="t" l="l"/>
            <a:pathLst>
              <a:path h="4114800" w="4563951">
                <a:moveTo>
                  <a:pt x="0" y="0"/>
                </a:moveTo>
                <a:lnTo>
                  <a:pt x="4563951" y="0"/>
                </a:lnTo>
                <a:lnTo>
                  <a:pt x="456395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15383371" y="-1654683"/>
            <a:ext cx="4563951" cy="4114800"/>
          </a:xfrm>
          <a:custGeom>
            <a:avLst/>
            <a:gdLst/>
            <a:ahLst/>
            <a:cxnLst/>
            <a:rect r="r" b="b" t="t" l="l"/>
            <a:pathLst>
              <a:path h="4114800" w="4563951">
                <a:moveTo>
                  <a:pt x="456395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563950" y="0"/>
                </a:lnTo>
                <a:lnTo>
                  <a:pt x="456395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29647" y="2949591"/>
            <a:ext cx="7482848" cy="5946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8344" indent="-229172" lvl="1">
              <a:lnSpc>
                <a:spcPts val="2972"/>
              </a:lnSpc>
              <a:buFont typeface="Arial"/>
              <a:buChar char="•"/>
            </a:pP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Reframes hallucination as a consequence of the generalization problem rather than a simple engineering defect.</a:t>
            </a:r>
          </a:p>
          <a:p>
            <a:pPr algn="just" marL="458344" indent="-229172" lvl="1">
              <a:lnSpc>
                <a:spcPts val="2972"/>
              </a:lnSpc>
              <a:buFont typeface="Arial"/>
              <a:buChar char="•"/>
            </a:pP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Distinguishes between Closed World settings (where training and test distributions align) and Open World settings (unbounded, evolving environments).</a:t>
            </a:r>
          </a:p>
          <a:p>
            <a:pPr algn="just" marL="458344" indent="-229172" lvl="1">
              <a:lnSpc>
                <a:spcPts val="2972"/>
              </a:lnSpc>
              <a:buFont typeface="Arial"/>
              <a:buChar char="•"/>
            </a:pP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Pr</a:t>
            </a: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oves that under the Open World Assumption, hallucinations are theoretically unavoidable, even with improved data or models.</a:t>
            </a:r>
          </a:p>
          <a:p>
            <a:pPr algn="just" marL="458344" indent="-229172" lvl="1">
              <a:lnSpc>
                <a:spcPts val="2972"/>
              </a:lnSpc>
              <a:buFont typeface="Arial"/>
              <a:buChar char="•"/>
            </a:pP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Classifies hallucinations into correctable (false memorization) and inevitable (false generalization).</a:t>
            </a:r>
          </a:p>
          <a:p>
            <a:pPr algn="just" marL="458344" indent="-229172" lvl="1">
              <a:lnSpc>
                <a:spcPts val="2972"/>
              </a:lnSpc>
              <a:buFont typeface="Arial"/>
              <a:buChar char="•"/>
            </a:pP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Argu</a:t>
            </a: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es that hallucination should be treated as a structural property of intelligent systems, not merely a bug.</a:t>
            </a:r>
          </a:p>
          <a:p>
            <a:pPr algn="just" marL="458344" indent="-229172" lvl="1">
              <a:lnSpc>
                <a:spcPts val="2972"/>
              </a:lnSpc>
              <a:buFont typeface="Arial"/>
              <a:buChar char="•"/>
            </a:pP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Limi</a:t>
            </a: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tations: focuses on conceptual and theoretical analysis without proposing concrete detection mechanisms.</a:t>
            </a:r>
          </a:p>
          <a:p>
            <a:pPr algn="just">
              <a:lnSpc>
                <a:spcPts val="2972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9401822" y="7195684"/>
            <a:ext cx="7857478" cy="1539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5"/>
              </a:lnSpc>
            </a:pPr>
            <a:r>
              <a:rPr lang="en-US" sz="2204">
                <a:solidFill>
                  <a:srgbClr val="1D242B"/>
                </a:solidFill>
                <a:latin typeface="Lovelo"/>
                <a:ea typeface="Lovelo"/>
                <a:cs typeface="Lovelo"/>
                <a:sym typeface="Lovelo"/>
              </a:rPr>
              <a:t>Key Takeaway</a:t>
            </a:r>
          </a:p>
          <a:p>
            <a:pPr algn="l">
              <a:lnSpc>
                <a:spcPts val="3085"/>
              </a:lnSpc>
              <a:spcBef>
                <a:spcPct val="0"/>
              </a:spcBef>
            </a:pPr>
            <a:r>
              <a:rPr lang="en-US" sz="2204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Under open-world c</a:t>
            </a:r>
            <a:r>
              <a:rPr lang="en-US" sz="2204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onditions, hallucination is u</a:t>
            </a:r>
            <a:r>
              <a:rPr lang="en-US" sz="2204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navoidable, making adaptive detection and risk prediction a fundamental requirement.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1" y="0"/>
                </a:lnTo>
                <a:lnTo>
                  <a:pt x="522665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3061349" y="617220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1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1" y="0"/>
                </a:lnTo>
                <a:lnTo>
                  <a:pt x="5226651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82398" y="286863"/>
            <a:ext cx="17452471" cy="9533412"/>
          </a:xfrm>
          <a:custGeom>
            <a:avLst/>
            <a:gdLst/>
            <a:ahLst/>
            <a:cxnLst/>
            <a:rect r="r" b="b" t="t" l="l"/>
            <a:pathLst>
              <a:path h="9533412" w="17452471">
                <a:moveTo>
                  <a:pt x="0" y="0"/>
                </a:moveTo>
                <a:lnTo>
                  <a:pt x="17452471" y="0"/>
                </a:lnTo>
                <a:lnTo>
                  <a:pt x="17452471" y="9533412"/>
                </a:lnTo>
                <a:lnTo>
                  <a:pt x="0" y="95334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36047" y="1059881"/>
            <a:ext cx="15815477" cy="1131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89"/>
              </a:lnSpc>
            </a:pPr>
            <a:r>
              <a:rPr lang="en-US" sz="3278">
                <a:solidFill>
                  <a:srgbClr val="1D242B"/>
                </a:solidFill>
                <a:latin typeface="Lovelo"/>
                <a:ea typeface="Lovelo"/>
                <a:cs typeface="Lovelo"/>
                <a:sym typeface="Lovelo"/>
              </a:rPr>
              <a:t>Survey of Hallucination in Natural Language Generation (ACM CSUR, 2023)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908682" y="2940066"/>
            <a:ext cx="8305334" cy="449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03369" indent="-251684" lvl="1">
              <a:lnSpc>
                <a:spcPts val="3264"/>
              </a:lnSpc>
              <a:buFont typeface="Arial"/>
              <a:buChar char="•"/>
            </a:pP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Provides a structured taxonomy that contextualizes uncertainty-, representation-, and learning-based hallucination detection methods.</a:t>
            </a:r>
          </a:p>
          <a:p>
            <a:pPr algn="just" marL="503369" indent="-251684" lvl="1">
              <a:lnSpc>
                <a:spcPts val="3264"/>
              </a:lnSpc>
              <a:buFont typeface="Arial"/>
              <a:buChar char="•"/>
            </a:pP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Hi</a:t>
            </a: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ghlights the lack of adaptive, task-agnostic hallucination risk prediction, motivating meta-learning approaches.</a:t>
            </a:r>
          </a:p>
          <a:p>
            <a:pPr algn="just" marL="503369" indent="-251684" lvl="1">
              <a:lnSpc>
                <a:spcPts val="3264"/>
              </a:lnSpc>
              <a:buFont typeface="Arial"/>
              <a:buChar char="•"/>
            </a:pP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Supports the </a:t>
            </a: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need for unified signals that generalize across tasks rather than task-specific heuristics.</a:t>
            </a:r>
          </a:p>
          <a:p>
            <a:pPr algn="just" marL="503369" indent="-251684" lvl="1">
              <a:lnSpc>
                <a:spcPts val="3264"/>
              </a:lnSpc>
              <a:buFont typeface="Arial"/>
              <a:buChar char="•"/>
            </a:pP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S</a:t>
            </a: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erves as a baseline reference to position meta-learning–based hallucination detection and risk prediction as a novel direction.</a:t>
            </a:r>
          </a:p>
          <a:p>
            <a:pPr algn="just">
              <a:lnSpc>
                <a:spcPts val="3264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236047" y="2211758"/>
            <a:ext cx="2581330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20"/>
              </a:lnSpc>
            </a:pPr>
            <a:r>
              <a:rPr lang="en-US" b="true" sz="3800">
                <a:solidFill>
                  <a:srgbClr val="1D242B"/>
                </a:solidFill>
                <a:latin typeface="XM Yekan Bold"/>
                <a:ea typeface="XM Yekan Bold"/>
                <a:cs typeface="XM Yekan Bold"/>
                <a:sym typeface="XM Yekan Bold"/>
              </a:rPr>
              <a:t>SUMMARY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397131" y="2309967"/>
            <a:ext cx="8890869" cy="67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95"/>
              </a:lnSpc>
            </a:pPr>
            <a:r>
              <a:rPr lang="en-US" sz="4067" b="true">
                <a:solidFill>
                  <a:srgbClr val="1D242B"/>
                </a:solidFill>
                <a:latin typeface="XM Yekan Bold"/>
                <a:ea typeface="XM Yekan Bold"/>
                <a:cs typeface="XM Yekan Bold"/>
                <a:sym typeface="XM Yekan Bold"/>
              </a:rPr>
              <a:t>RELEVANCE TO THE TOPIC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-1646723" y="7762875"/>
            <a:ext cx="4563951" cy="4114800"/>
          </a:xfrm>
          <a:custGeom>
            <a:avLst/>
            <a:gdLst/>
            <a:ahLst/>
            <a:cxnLst/>
            <a:rect r="r" b="b" t="t" l="l"/>
            <a:pathLst>
              <a:path h="4114800" w="4563951">
                <a:moveTo>
                  <a:pt x="0" y="0"/>
                </a:moveTo>
                <a:lnTo>
                  <a:pt x="4563951" y="0"/>
                </a:lnTo>
                <a:lnTo>
                  <a:pt x="456395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15383371" y="-1654683"/>
            <a:ext cx="4563951" cy="4114800"/>
          </a:xfrm>
          <a:custGeom>
            <a:avLst/>
            <a:gdLst/>
            <a:ahLst/>
            <a:cxnLst/>
            <a:rect r="r" b="b" t="t" l="l"/>
            <a:pathLst>
              <a:path h="4114800" w="4563951">
                <a:moveTo>
                  <a:pt x="456395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563950" y="0"/>
                </a:lnTo>
                <a:lnTo>
                  <a:pt x="456395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39172" y="2949591"/>
            <a:ext cx="7482848" cy="6319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8344" indent="-229172" lvl="1">
              <a:lnSpc>
                <a:spcPts val="2972"/>
              </a:lnSpc>
              <a:buFont typeface="Arial"/>
              <a:buChar char="•"/>
            </a:pP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Presents a comprehensive survey of hallucination in Natural Language Generation (NLG) across tasks such as summarization, dialogue, QA, data-to-text, and machine translation.</a:t>
            </a:r>
          </a:p>
          <a:p>
            <a:pPr algn="just" marL="458344" indent="-229172" lvl="1">
              <a:lnSpc>
                <a:spcPts val="2972"/>
              </a:lnSpc>
              <a:buFont typeface="Arial"/>
              <a:buChar char="•"/>
            </a:pP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Defines and categorizes hallucinations into intrinsic (contradicting source input) and extrinsic (contradicting external facts).</a:t>
            </a:r>
          </a:p>
          <a:p>
            <a:pPr algn="just" marL="458344" indent="-229172" lvl="1">
              <a:lnSpc>
                <a:spcPts val="2972"/>
              </a:lnSpc>
              <a:buFont typeface="Arial"/>
              <a:buChar char="•"/>
            </a:pP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Re</a:t>
            </a: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views existing evaluation metrics, benchmarks, and mitigation strategies, including factuality checks, retrieval augmentation, and training objectives.</a:t>
            </a:r>
          </a:p>
          <a:p>
            <a:pPr algn="just" marL="458344" indent="-229172" lvl="1">
              <a:lnSpc>
                <a:spcPts val="2972"/>
              </a:lnSpc>
              <a:buFont typeface="Arial"/>
              <a:buChar char="•"/>
            </a:pP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Highlights that most existing methods are task-specific, resource-dependent, or rely on external knowledge bases.</a:t>
            </a:r>
          </a:p>
          <a:p>
            <a:pPr algn="just" marL="458344" indent="-229172" lvl="1">
              <a:lnSpc>
                <a:spcPts val="2972"/>
              </a:lnSpc>
              <a:buFont typeface="Arial"/>
              <a:buChar char="•"/>
            </a:pP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Identifies gaps in generalizable detection, risk-aware evaluation, and cross-task robustness.</a:t>
            </a:r>
          </a:p>
          <a:p>
            <a:pPr algn="just" marL="458344" indent="-229172" lvl="1">
              <a:lnSpc>
                <a:spcPts val="2972"/>
              </a:lnSpc>
              <a:buFont typeface="Arial"/>
              <a:buChar char="•"/>
            </a:pP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Limi</a:t>
            </a: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tations: focuses on surveying existing methods and does not propose new detection or prediction models.</a:t>
            </a:r>
          </a:p>
          <a:p>
            <a:pPr algn="just">
              <a:lnSpc>
                <a:spcPts val="2972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9401822" y="7195684"/>
            <a:ext cx="7857478" cy="1925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5"/>
              </a:lnSpc>
            </a:pPr>
            <a:r>
              <a:rPr lang="en-US" sz="2204">
                <a:solidFill>
                  <a:srgbClr val="1D242B"/>
                </a:solidFill>
                <a:latin typeface="Lovelo"/>
                <a:ea typeface="Lovelo"/>
                <a:cs typeface="Lovelo"/>
                <a:sym typeface="Lovelo"/>
              </a:rPr>
              <a:t>Key Takeaway</a:t>
            </a:r>
          </a:p>
          <a:p>
            <a:pPr algn="l">
              <a:lnSpc>
                <a:spcPts val="3085"/>
              </a:lnSpc>
              <a:spcBef>
                <a:spcPct val="0"/>
              </a:spcBef>
            </a:pPr>
            <a:r>
              <a:rPr lang="en-US" sz="2204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Ex</a:t>
            </a:r>
            <a:r>
              <a:rPr lang="en-US" sz="2204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isting hallucination research is fragme</a:t>
            </a:r>
            <a:r>
              <a:rPr lang="en-US" sz="2204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nted across tasks, motivating a unified, meta-learning–based approach for detection and risk prediction.</a:t>
            </a:r>
          </a:p>
          <a:p>
            <a:pPr algn="l">
              <a:lnSpc>
                <a:spcPts val="308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1" y="0"/>
                </a:lnTo>
                <a:lnTo>
                  <a:pt x="522665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3061349" y="617220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1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1" y="0"/>
                </a:lnTo>
                <a:lnTo>
                  <a:pt x="5226651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82398" y="286863"/>
            <a:ext cx="17452471" cy="9533412"/>
          </a:xfrm>
          <a:custGeom>
            <a:avLst/>
            <a:gdLst/>
            <a:ahLst/>
            <a:cxnLst/>
            <a:rect r="r" b="b" t="t" l="l"/>
            <a:pathLst>
              <a:path h="9533412" w="17452471">
                <a:moveTo>
                  <a:pt x="0" y="0"/>
                </a:moveTo>
                <a:lnTo>
                  <a:pt x="17452471" y="0"/>
                </a:lnTo>
                <a:lnTo>
                  <a:pt x="17452471" y="9533412"/>
                </a:lnTo>
                <a:lnTo>
                  <a:pt x="0" y="95334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36047" y="1059881"/>
            <a:ext cx="15815477" cy="1131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89"/>
              </a:lnSpc>
            </a:pPr>
            <a:r>
              <a:rPr lang="en-US" sz="3278">
                <a:solidFill>
                  <a:srgbClr val="1D242B"/>
                </a:solidFill>
                <a:latin typeface="Lovelo"/>
                <a:ea typeface="Lovelo"/>
                <a:cs typeface="Lovelo"/>
                <a:sym typeface="Lovelo"/>
              </a:rPr>
              <a:t>Simple Factuality Probes for Detecting Hallucinations in Long-Form Generation (EMNLP 2025)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46190" y="3079140"/>
            <a:ext cx="8919155" cy="4081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03369" indent="-251684" lvl="1">
              <a:lnSpc>
                <a:spcPts val="3264"/>
              </a:lnSpc>
              <a:buFont typeface="Arial"/>
              <a:buChar char="•"/>
            </a:pP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Provides an efficient internal hallucination signal suitable for large-scale and long-form generation scenarios.</a:t>
            </a:r>
          </a:p>
          <a:p>
            <a:pPr algn="just" marL="503369" indent="-251684" lvl="1">
              <a:lnSpc>
                <a:spcPts val="3264"/>
              </a:lnSpc>
              <a:buFont typeface="Arial"/>
              <a:buChar char="•"/>
            </a:pP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Complem</a:t>
            </a: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ents uncertainty-based methods by enabling single-pass hallucination detection, crucial for real-time risk estimation.</a:t>
            </a:r>
          </a:p>
          <a:p>
            <a:pPr algn="just" marL="503369" indent="-251684" lvl="1">
              <a:lnSpc>
                <a:spcPts val="3264"/>
              </a:lnSpc>
              <a:buFont typeface="Arial"/>
              <a:buChar char="•"/>
            </a:pP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Supplies structured internal features that can be combined with other signals (semantic entropy, black-box checks) in a meta-learning framework.</a:t>
            </a:r>
          </a:p>
          <a:p>
            <a:pPr algn="just" marL="503369" indent="-251684" lvl="1">
              <a:lnSpc>
                <a:spcPts val="3264"/>
              </a:lnSpc>
              <a:buFont typeface="Arial"/>
              <a:buChar char="•"/>
            </a:pP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Supports calibrated hallucination risk prediction by enabling fine-grained, claim-level confidence estimation.</a:t>
            </a:r>
          </a:p>
          <a:p>
            <a:pPr algn="just">
              <a:lnSpc>
                <a:spcPts val="3264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236047" y="2211758"/>
            <a:ext cx="2581330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20"/>
              </a:lnSpc>
            </a:pPr>
            <a:r>
              <a:rPr lang="en-US" b="true" sz="3800">
                <a:solidFill>
                  <a:srgbClr val="1D242B"/>
                </a:solidFill>
                <a:latin typeface="XM Yekan Bold"/>
                <a:ea typeface="XM Yekan Bold"/>
                <a:cs typeface="XM Yekan Bold"/>
                <a:sym typeface="XM Yekan Bold"/>
              </a:rPr>
              <a:t>SUMMARY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885126" y="2217383"/>
            <a:ext cx="8890869" cy="67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95"/>
              </a:lnSpc>
            </a:pPr>
            <a:r>
              <a:rPr lang="en-US" sz="4067" b="true">
                <a:solidFill>
                  <a:srgbClr val="1D242B"/>
                </a:solidFill>
                <a:latin typeface="XM Yekan Bold"/>
                <a:ea typeface="XM Yekan Bold"/>
                <a:cs typeface="XM Yekan Bold"/>
                <a:sym typeface="XM Yekan Bold"/>
              </a:rPr>
              <a:t>RELEVANCE TO THE TOPIC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-1646723" y="7762875"/>
            <a:ext cx="4563951" cy="4114800"/>
          </a:xfrm>
          <a:custGeom>
            <a:avLst/>
            <a:gdLst/>
            <a:ahLst/>
            <a:cxnLst/>
            <a:rect r="r" b="b" t="t" l="l"/>
            <a:pathLst>
              <a:path h="4114800" w="4563951">
                <a:moveTo>
                  <a:pt x="0" y="0"/>
                </a:moveTo>
                <a:lnTo>
                  <a:pt x="4563951" y="0"/>
                </a:lnTo>
                <a:lnTo>
                  <a:pt x="456395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15383371" y="-1654683"/>
            <a:ext cx="4563951" cy="4114800"/>
          </a:xfrm>
          <a:custGeom>
            <a:avLst/>
            <a:gdLst/>
            <a:ahLst/>
            <a:cxnLst/>
            <a:rect r="r" b="b" t="t" l="l"/>
            <a:pathLst>
              <a:path h="4114800" w="4563951">
                <a:moveTo>
                  <a:pt x="456395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563950" y="0"/>
                </a:lnTo>
                <a:lnTo>
                  <a:pt x="456395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29647" y="2949591"/>
            <a:ext cx="7702242" cy="6319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8344" indent="-229172" lvl="1">
              <a:lnSpc>
                <a:spcPts val="2972"/>
              </a:lnSpc>
              <a:buFont typeface="Arial"/>
              <a:buChar char="•"/>
            </a:pP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Proposes a lightweight factuality probe that detects hallucinations using hidden states from a single LLM generation, avoiding expensive multi-sample methods.</a:t>
            </a:r>
          </a:p>
          <a:p>
            <a:pPr algn="just" marL="458344" indent="-229172" lvl="1">
              <a:lnSpc>
                <a:spcPts val="2972"/>
              </a:lnSpc>
              <a:buFont typeface="Arial"/>
              <a:buChar char="•"/>
            </a:pP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Shows that LLM hidden representations encode fine-grained factuality signals even in long-form outputs spanning thousands of tokens.</a:t>
            </a:r>
          </a:p>
          <a:p>
            <a:pPr algn="just" marL="458344" indent="-229172" lvl="1">
              <a:lnSpc>
                <a:spcPts val="2972"/>
              </a:lnSpc>
              <a:buFont typeface="Arial"/>
              <a:buChar char="•"/>
            </a:pP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Train</a:t>
            </a: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s simple linear and tree-based probes on hidden states to predict claim-level hallucinations.</a:t>
            </a:r>
          </a:p>
          <a:p>
            <a:pPr algn="just" marL="458344" indent="-229172" lvl="1">
              <a:lnSpc>
                <a:spcPts val="2972"/>
              </a:lnSpc>
              <a:buFont typeface="Arial"/>
              <a:buChar char="•"/>
            </a:pP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Achieves performance comparable to semantic entropy and self-consistency methods while using up to 100× fewer FLOPs.</a:t>
            </a:r>
          </a:p>
          <a:p>
            <a:pPr algn="just" marL="458344" indent="-229172" lvl="1">
              <a:lnSpc>
                <a:spcPts val="2972"/>
              </a:lnSpc>
              <a:buFont typeface="Arial"/>
              <a:buChar char="•"/>
            </a:pP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Demonstrates strong cross-model generalization, where p</a:t>
            </a: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rob</a:t>
            </a: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es trained on smaller open-source models transfer to large proprietary models.</a:t>
            </a:r>
          </a:p>
          <a:p>
            <a:pPr algn="just" marL="458344" indent="-229172" lvl="1">
              <a:lnSpc>
                <a:spcPts val="2972"/>
              </a:lnSpc>
              <a:buFont typeface="Arial"/>
              <a:buChar char="•"/>
            </a:pP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Limi</a:t>
            </a: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tations: requires access to internal hidden states and supervised probe training data.</a:t>
            </a:r>
          </a:p>
          <a:p>
            <a:pPr algn="just">
              <a:lnSpc>
                <a:spcPts val="2972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9092902" y="7103085"/>
            <a:ext cx="8166398" cy="1607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7"/>
              </a:lnSpc>
            </a:pPr>
            <a:r>
              <a:rPr lang="en-US" sz="2290">
                <a:solidFill>
                  <a:srgbClr val="1D242B"/>
                </a:solidFill>
                <a:latin typeface="Lovelo"/>
                <a:ea typeface="Lovelo"/>
                <a:cs typeface="Lovelo"/>
                <a:sym typeface="Lovelo"/>
              </a:rPr>
              <a:t>Key Takeaway</a:t>
            </a:r>
          </a:p>
          <a:p>
            <a:pPr algn="l">
              <a:lnSpc>
                <a:spcPts val="3207"/>
              </a:lnSpc>
              <a:spcBef>
                <a:spcPct val="0"/>
              </a:spcBef>
            </a:pP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Under open-world c</a:t>
            </a: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onditions, hallucination is u</a:t>
            </a: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navoidable, making adaptive detection and risk prediction a fundamental requirement.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1" y="0"/>
                </a:lnTo>
                <a:lnTo>
                  <a:pt x="522665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3061349" y="617220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1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1" y="0"/>
                </a:lnTo>
                <a:lnTo>
                  <a:pt x="5226651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82398" y="286863"/>
            <a:ext cx="17452471" cy="9533412"/>
          </a:xfrm>
          <a:custGeom>
            <a:avLst/>
            <a:gdLst/>
            <a:ahLst/>
            <a:cxnLst/>
            <a:rect r="r" b="b" t="t" l="l"/>
            <a:pathLst>
              <a:path h="9533412" w="17452471">
                <a:moveTo>
                  <a:pt x="0" y="0"/>
                </a:moveTo>
                <a:lnTo>
                  <a:pt x="17452471" y="0"/>
                </a:lnTo>
                <a:lnTo>
                  <a:pt x="17452471" y="9533412"/>
                </a:lnTo>
                <a:lnTo>
                  <a:pt x="0" y="95334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36047" y="1059881"/>
            <a:ext cx="15815477" cy="1131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89"/>
              </a:lnSpc>
            </a:pPr>
            <a:r>
              <a:rPr lang="en-US" sz="3278">
                <a:solidFill>
                  <a:srgbClr val="1D242B"/>
                </a:solidFill>
                <a:latin typeface="Lovelo"/>
                <a:ea typeface="Lovelo"/>
                <a:cs typeface="Lovelo"/>
                <a:sym typeface="Lovelo"/>
              </a:rPr>
              <a:t>Detecting Hallucinations in Scientific Claims using Prompting and Internal States (SciHal, ACL 2025)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46190" y="3079140"/>
            <a:ext cx="8919155" cy="4081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03369" indent="-251684" lvl="1">
              <a:lnSpc>
                <a:spcPts val="3264"/>
              </a:lnSpc>
              <a:buFont typeface="Arial"/>
              <a:buChar char="•"/>
            </a:pP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Demonstrates the effectiveness of hybrid hallucination signals, combining prompting behavior with internal model representations.</a:t>
            </a:r>
          </a:p>
          <a:p>
            <a:pPr algn="just" marL="503369" indent="-251684" lvl="1">
              <a:lnSpc>
                <a:spcPts val="3264"/>
              </a:lnSpc>
              <a:buFont typeface="Arial"/>
              <a:buChar char="•"/>
            </a:pP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Highl</a:t>
            </a: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ights how domain context influences hallucination patterns, motivating task-adaptive learning.</a:t>
            </a:r>
          </a:p>
          <a:p>
            <a:pPr algn="just" marL="503369" indent="-251684" lvl="1">
              <a:lnSpc>
                <a:spcPts val="3264"/>
              </a:lnSpc>
              <a:buFont typeface="Arial"/>
              <a:buChar char="•"/>
            </a:pP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Prov</a:t>
            </a: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ides supervised hallucination signals that can serve as training data or auxiliary features for meta-learning frameworks.</a:t>
            </a:r>
          </a:p>
          <a:p>
            <a:pPr algn="just" marL="503369" indent="-251684" lvl="1">
              <a:lnSpc>
                <a:spcPts val="3264"/>
              </a:lnSpc>
              <a:buFont typeface="Arial"/>
              <a:buChar char="•"/>
            </a:pP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Reinf</a:t>
            </a: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orces the need for generalizable risk prediction, as domain-specific detectors do not easily transfer across tasks.</a:t>
            </a:r>
          </a:p>
          <a:p>
            <a:pPr algn="just">
              <a:lnSpc>
                <a:spcPts val="3264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236047" y="2211758"/>
            <a:ext cx="2581330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20"/>
              </a:lnSpc>
            </a:pPr>
            <a:r>
              <a:rPr lang="en-US" b="true" sz="3800">
                <a:solidFill>
                  <a:srgbClr val="1D242B"/>
                </a:solidFill>
                <a:latin typeface="XM Yekan Bold"/>
                <a:ea typeface="XM Yekan Bold"/>
                <a:cs typeface="XM Yekan Bold"/>
                <a:sym typeface="XM Yekan Bold"/>
              </a:rPr>
              <a:t>SUMMARY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885126" y="2217383"/>
            <a:ext cx="8890869" cy="67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95"/>
              </a:lnSpc>
            </a:pPr>
            <a:r>
              <a:rPr lang="en-US" sz="4067" b="true">
                <a:solidFill>
                  <a:srgbClr val="1D242B"/>
                </a:solidFill>
                <a:latin typeface="XM Yekan Bold"/>
                <a:ea typeface="XM Yekan Bold"/>
                <a:cs typeface="XM Yekan Bold"/>
                <a:sym typeface="XM Yekan Bold"/>
              </a:rPr>
              <a:t>RELEVANCE TO THE TOPIC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-1646723" y="7762875"/>
            <a:ext cx="4563951" cy="4114800"/>
          </a:xfrm>
          <a:custGeom>
            <a:avLst/>
            <a:gdLst/>
            <a:ahLst/>
            <a:cxnLst/>
            <a:rect r="r" b="b" t="t" l="l"/>
            <a:pathLst>
              <a:path h="4114800" w="4563951">
                <a:moveTo>
                  <a:pt x="0" y="0"/>
                </a:moveTo>
                <a:lnTo>
                  <a:pt x="4563951" y="0"/>
                </a:lnTo>
                <a:lnTo>
                  <a:pt x="456395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15383371" y="-1654683"/>
            <a:ext cx="4563951" cy="4114800"/>
          </a:xfrm>
          <a:custGeom>
            <a:avLst/>
            <a:gdLst/>
            <a:ahLst/>
            <a:cxnLst/>
            <a:rect r="r" b="b" t="t" l="l"/>
            <a:pathLst>
              <a:path h="4114800" w="4563951">
                <a:moveTo>
                  <a:pt x="456395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563950" y="0"/>
                </a:lnTo>
                <a:lnTo>
                  <a:pt x="456395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29647" y="2949591"/>
            <a:ext cx="7702242" cy="5946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8344" indent="-229172" lvl="1">
              <a:lnSpc>
                <a:spcPts val="2972"/>
              </a:lnSpc>
              <a:buFont typeface="Arial"/>
              <a:buChar char="•"/>
            </a:pP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Proposes a hallucination detection framework for scientific claim verification as part of the SciHal 2025 Challenge.</a:t>
            </a:r>
          </a:p>
          <a:p>
            <a:pPr algn="just" marL="458344" indent="-229172" lvl="1">
              <a:lnSpc>
                <a:spcPts val="2972"/>
              </a:lnSpc>
              <a:buFont typeface="Arial"/>
              <a:buChar char="•"/>
            </a:pP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Combines prompting strategies (zero-shot, few-shot, and chain-of-thought) with internal hidden-state representations of LLMs.</a:t>
            </a:r>
          </a:p>
          <a:p>
            <a:pPr algn="just" marL="458344" indent="-229172" lvl="1">
              <a:lnSpc>
                <a:spcPts val="2972"/>
              </a:lnSpc>
              <a:buFont typeface="Arial"/>
              <a:buChar char="•"/>
            </a:pP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Extracts hidden states from LLM outputs and t</a:t>
            </a: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rain</a:t>
            </a: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s an auxiliary classifier to categorize hallucination types at the claim level.</a:t>
            </a:r>
          </a:p>
          <a:p>
            <a:pPr algn="just" marL="458344" indent="-229172" lvl="1">
              <a:lnSpc>
                <a:spcPts val="2972"/>
              </a:lnSpc>
              <a:buFont typeface="Arial"/>
              <a:buChar char="•"/>
            </a:pP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Operates on a curated dataset containing real user queries, retrieved scientific abstracts, LLM-generated resp</a:t>
            </a: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ons</a:t>
            </a: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es, and human-annotated claims.</a:t>
            </a:r>
          </a:p>
          <a:p>
            <a:pPr algn="just" marL="458344" indent="-229172" lvl="1">
              <a:lnSpc>
                <a:spcPts val="2972"/>
              </a:lnSpc>
              <a:buFont typeface="Arial"/>
              <a:buChar char="•"/>
            </a:pP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Achieves competitive performance on claim-level hallucination classification across multiple scientific domains.</a:t>
            </a:r>
          </a:p>
          <a:p>
            <a:pPr algn="just" marL="458344" indent="-229172" lvl="1">
              <a:lnSpc>
                <a:spcPts val="2972"/>
              </a:lnSpc>
              <a:buFont typeface="Arial"/>
              <a:buChar char="•"/>
            </a:pP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Limi</a:t>
            </a: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tations: domain-specific to scientific content and relies on supervised labels and prompt engineering.</a:t>
            </a:r>
          </a:p>
          <a:p>
            <a:pPr algn="just">
              <a:lnSpc>
                <a:spcPts val="2972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9092902" y="7103085"/>
            <a:ext cx="8166398" cy="1607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7"/>
              </a:lnSpc>
            </a:pPr>
            <a:r>
              <a:rPr lang="en-US" sz="2290">
                <a:solidFill>
                  <a:srgbClr val="1D242B"/>
                </a:solidFill>
                <a:latin typeface="Lovelo"/>
                <a:ea typeface="Lovelo"/>
                <a:cs typeface="Lovelo"/>
                <a:sym typeface="Lovelo"/>
              </a:rPr>
              <a:t>Key Takeaway</a:t>
            </a:r>
          </a:p>
          <a:p>
            <a:pPr algn="l">
              <a:lnSpc>
                <a:spcPts val="3207"/>
              </a:lnSpc>
              <a:spcBef>
                <a:spcPct val="0"/>
              </a:spcBef>
            </a:pP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Hybrid prompting a</a:t>
            </a: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nd hidden-state features improve scientific hallucination detectio</a:t>
            </a: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n, motivating meta-learning approaches for task-adaptive hallucination risk prediction.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1" y="0"/>
                </a:lnTo>
                <a:lnTo>
                  <a:pt x="522665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3061349" y="617220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1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1" y="0"/>
                </a:lnTo>
                <a:lnTo>
                  <a:pt x="5226651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82398" y="286863"/>
            <a:ext cx="17452471" cy="9533412"/>
          </a:xfrm>
          <a:custGeom>
            <a:avLst/>
            <a:gdLst/>
            <a:ahLst/>
            <a:cxnLst/>
            <a:rect r="r" b="b" t="t" l="l"/>
            <a:pathLst>
              <a:path h="9533412" w="17452471">
                <a:moveTo>
                  <a:pt x="0" y="0"/>
                </a:moveTo>
                <a:lnTo>
                  <a:pt x="17452471" y="0"/>
                </a:lnTo>
                <a:lnTo>
                  <a:pt x="17452471" y="9533412"/>
                </a:lnTo>
                <a:lnTo>
                  <a:pt x="0" y="95334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36047" y="1059881"/>
            <a:ext cx="15815477" cy="1131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89"/>
              </a:lnSpc>
            </a:pPr>
            <a:r>
              <a:rPr lang="en-US" sz="3278">
                <a:solidFill>
                  <a:srgbClr val="1D242B"/>
                </a:solidFill>
                <a:latin typeface="Lovelo"/>
                <a:ea typeface="Lovelo"/>
                <a:cs typeface="Lovelo"/>
                <a:sym typeface="Lovelo"/>
              </a:rPr>
              <a:t>HaluEval: A Large-Scale Hallucination Evaluation Benchmark for LLMs (2023)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46190" y="3079140"/>
            <a:ext cx="8919155" cy="3671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03369" indent="-251684" lvl="1">
              <a:lnSpc>
                <a:spcPts val="3264"/>
              </a:lnSpc>
              <a:buFont typeface="Arial"/>
              <a:buChar char="•"/>
            </a:pP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Serves as a standard evaluation benchmark for comparing hallucination detection and risk estimation methods.</a:t>
            </a:r>
          </a:p>
          <a:p>
            <a:pPr algn="just" marL="503369" indent="-251684" lvl="1">
              <a:lnSpc>
                <a:spcPts val="3264"/>
              </a:lnSpc>
              <a:buFont typeface="Arial"/>
              <a:buChar char="•"/>
            </a:pP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Enables quant</a:t>
            </a: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itative assessment of task-agnostic hallucination detection models, including meta-learning app</a:t>
            </a: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roach</a:t>
            </a: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es.</a:t>
            </a:r>
          </a:p>
          <a:p>
            <a:pPr algn="just" marL="503369" indent="-251684" lvl="1">
              <a:lnSpc>
                <a:spcPts val="3264"/>
              </a:lnSpc>
              <a:buFont typeface="Arial"/>
              <a:buChar char="•"/>
            </a:pP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Highlights the difficulty of hallucination recognition even for strong LLMs, motivating risk-aware prediction frameworks.</a:t>
            </a:r>
          </a:p>
          <a:p>
            <a:pPr algn="just" marL="503369" indent="-251684" lvl="1">
              <a:lnSpc>
                <a:spcPts val="3264"/>
              </a:lnSpc>
              <a:buFont typeface="Arial"/>
              <a:buChar char="•"/>
            </a:pP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Provid</a:t>
            </a: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es labeled data that can support meta-learning across tasks by exposing diverse hallucination patterns.</a:t>
            </a:r>
          </a:p>
          <a:p>
            <a:pPr algn="just">
              <a:lnSpc>
                <a:spcPts val="3264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236047" y="2211758"/>
            <a:ext cx="2581330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20"/>
              </a:lnSpc>
            </a:pPr>
            <a:r>
              <a:rPr lang="en-US" b="true" sz="3800">
                <a:solidFill>
                  <a:srgbClr val="1D242B"/>
                </a:solidFill>
                <a:latin typeface="XM Yekan Bold"/>
                <a:ea typeface="XM Yekan Bold"/>
                <a:cs typeface="XM Yekan Bold"/>
                <a:sym typeface="XM Yekan Bold"/>
              </a:rPr>
              <a:t>SUMMARY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885126" y="2217383"/>
            <a:ext cx="8890869" cy="67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95"/>
              </a:lnSpc>
            </a:pPr>
            <a:r>
              <a:rPr lang="en-US" sz="4067" b="true">
                <a:solidFill>
                  <a:srgbClr val="1D242B"/>
                </a:solidFill>
                <a:latin typeface="XM Yekan Bold"/>
                <a:ea typeface="XM Yekan Bold"/>
                <a:cs typeface="XM Yekan Bold"/>
                <a:sym typeface="XM Yekan Bold"/>
              </a:rPr>
              <a:t>RELEVANCE TO THE TOPIC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-1646723" y="7762875"/>
            <a:ext cx="4563951" cy="4114800"/>
          </a:xfrm>
          <a:custGeom>
            <a:avLst/>
            <a:gdLst/>
            <a:ahLst/>
            <a:cxnLst/>
            <a:rect r="r" b="b" t="t" l="l"/>
            <a:pathLst>
              <a:path h="4114800" w="4563951">
                <a:moveTo>
                  <a:pt x="0" y="0"/>
                </a:moveTo>
                <a:lnTo>
                  <a:pt x="4563951" y="0"/>
                </a:lnTo>
                <a:lnTo>
                  <a:pt x="456395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15383371" y="-1654683"/>
            <a:ext cx="4563951" cy="4114800"/>
          </a:xfrm>
          <a:custGeom>
            <a:avLst/>
            <a:gdLst/>
            <a:ahLst/>
            <a:cxnLst/>
            <a:rect r="r" b="b" t="t" l="l"/>
            <a:pathLst>
              <a:path h="4114800" w="4563951">
                <a:moveTo>
                  <a:pt x="456395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563950" y="0"/>
                </a:lnTo>
                <a:lnTo>
                  <a:pt x="456395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29647" y="2949591"/>
            <a:ext cx="7702242" cy="6319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8344" indent="-229172" lvl="1">
              <a:lnSpc>
                <a:spcPts val="2972"/>
              </a:lnSpc>
              <a:buFont typeface="Arial"/>
              <a:buChar char="•"/>
            </a:pP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Introduces HaluEval, a large-scale benchmark for evaluating hallucinations in large language models across multiple tasks.</a:t>
            </a:r>
          </a:p>
          <a:p>
            <a:pPr algn="just" marL="458344" indent="-229172" lvl="1">
              <a:lnSpc>
                <a:spcPts val="2972"/>
              </a:lnSpc>
              <a:buFont typeface="Arial"/>
              <a:buChar char="•"/>
            </a:pP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Contains over 35,000 human-annotated samples, including general user queries and task-specific data for QA, dialogue, and summarization.</a:t>
            </a:r>
          </a:p>
          <a:p>
            <a:pPr algn="just" marL="458344" indent="-229172" lvl="1">
              <a:lnSpc>
                <a:spcPts val="2972"/>
              </a:lnSpc>
              <a:buFont typeface="Arial"/>
              <a:buChar char="•"/>
            </a:pP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Defines hallucinations as content that conflicts with source information or cannot be verified by factual knowledge.</a:t>
            </a:r>
          </a:p>
          <a:p>
            <a:pPr algn="just" marL="458344" indent="-229172" lvl="1">
              <a:lnSpc>
                <a:spcPts val="2972"/>
              </a:lnSpc>
              <a:buFont typeface="Arial"/>
              <a:buChar char="•"/>
            </a:pP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Uses a sampling-then-filtering strategy to automatically generate challenging hallucinated resp</a:t>
            </a: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ons</a:t>
            </a: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es, followed by human verification.</a:t>
            </a:r>
          </a:p>
          <a:p>
            <a:pPr algn="just" marL="458344" indent="-229172" lvl="1">
              <a:lnSpc>
                <a:spcPts val="2972"/>
              </a:lnSpc>
              <a:buFont typeface="Arial"/>
              <a:buChar char="•"/>
            </a:pP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Pr</a:t>
            </a: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ovides span-level annotations, enabling fine-grained evaluation of hallucination detection methods.</a:t>
            </a:r>
          </a:p>
          <a:p>
            <a:pPr algn="just" marL="458344" indent="-229172" lvl="1">
              <a:lnSpc>
                <a:spcPts val="2972"/>
              </a:lnSpc>
              <a:buFont typeface="Arial"/>
              <a:buChar char="•"/>
            </a:pP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Limi</a:t>
            </a: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tations: benchmark focuses on recognition rather than prediction and relies on induced hallucinations that may differ from real-world deployment settings.</a:t>
            </a:r>
          </a:p>
          <a:p>
            <a:pPr algn="just">
              <a:lnSpc>
                <a:spcPts val="2972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9092902" y="7103085"/>
            <a:ext cx="8166398" cy="200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7"/>
              </a:lnSpc>
            </a:pPr>
            <a:r>
              <a:rPr lang="en-US" sz="2290">
                <a:solidFill>
                  <a:srgbClr val="1D242B"/>
                </a:solidFill>
                <a:latin typeface="Lovelo"/>
                <a:ea typeface="Lovelo"/>
                <a:cs typeface="Lovelo"/>
                <a:sym typeface="Lovelo"/>
              </a:rPr>
              <a:t>Key Takeaway</a:t>
            </a:r>
          </a:p>
          <a:p>
            <a:pPr algn="l">
              <a:lnSpc>
                <a:spcPts val="3207"/>
              </a:lnSpc>
              <a:spcBef>
                <a:spcPct val="0"/>
              </a:spcBef>
            </a:pP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HaluEval provides a large-scale, fine-grai</a:t>
            </a: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ned benchmark that exposes the limitations of current hallucination detectors a</a:t>
            </a: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nd motivates adaptive, learning-based risk prediction.</a:t>
            </a:r>
          </a:p>
          <a:p>
            <a:pPr algn="l">
              <a:lnSpc>
                <a:spcPts val="320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1" y="0"/>
                </a:lnTo>
                <a:lnTo>
                  <a:pt x="522665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3061349" y="617220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1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1" y="0"/>
                </a:lnTo>
                <a:lnTo>
                  <a:pt x="5226651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82398" y="286863"/>
            <a:ext cx="17452471" cy="9533412"/>
          </a:xfrm>
          <a:custGeom>
            <a:avLst/>
            <a:gdLst/>
            <a:ahLst/>
            <a:cxnLst/>
            <a:rect r="r" b="b" t="t" l="l"/>
            <a:pathLst>
              <a:path h="9533412" w="17452471">
                <a:moveTo>
                  <a:pt x="0" y="0"/>
                </a:moveTo>
                <a:lnTo>
                  <a:pt x="17452471" y="0"/>
                </a:lnTo>
                <a:lnTo>
                  <a:pt x="17452471" y="9533412"/>
                </a:lnTo>
                <a:lnTo>
                  <a:pt x="0" y="95334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36047" y="1059881"/>
            <a:ext cx="15815477" cy="1131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89"/>
              </a:lnSpc>
            </a:pPr>
            <a:r>
              <a:rPr lang="en-US" sz="3278">
                <a:solidFill>
                  <a:srgbClr val="1D242B"/>
                </a:solidFill>
                <a:latin typeface="Lovelo"/>
                <a:ea typeface="Lovelo"/>
                <a:cs typeface="Lovelo"/>
                <a:sym typeface="Lovelo"/>
              </a:rPr>
              <a:t>FELM: Benchmarking Factuality Evaluation of Large Language Models (NeurIPS 2023)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46190" y="3079140"/>
            <a:ext cx="8919155" cy="3671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03369" indent="-251684" lvl="1">
              <a:lnSpc>
                <a:spcPts val="3264"/>
              </a:lnSpc>
              <a:buFont typeface="Arial"/>
              <a:buChar char="•"/>
            </a:pP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Provides a multi-domain evaluation framework suitable for assessing hallucination detection and risk prediction models.</a:t>
            </a:r>
          </a:p>
          <a:p>
            <a:pPr algn="just" marL="503369" indent="-251684" lvl="1">
              <a:lnSpc>
                <a:spcPts val="3264"/>
              </a:lnSpc>
              <a:buFont typeface="Arial"/>
              <a:buChar char="•"/>
            </a:pP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Enables analysis of generalization across domains, which is critical for meta-learning approaches.</a:t>
            </a:r>
          </a:p>
          <a:p>
            <a:pPr algn="just" marL="503369" indent="-251684" lvl="1">
              <a:lnSpc>
                <a:spcPts val="3264"/>
              </a:lnSpc>
              <a:buFont typeface="Arial"/>
              <a:buChar char="•"/>
            </a:pP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Highl</a:t>
            </a: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ights the gap between detection performance and real-world reliability, motivating calibrated hallucination risk estimation.</a:t>
            </a:r>
          </a:p>
          <a:p>
            <a:pPr algn="just" marL="503369" indent="-251684" lvl="1">
              <a:lnSpc>
                <a:spcPts val="3264"/>
              </a:lnSpc>
              <a:buFont typeface="Arial"/>
              <a:buChar char="•"/>
            </a:pP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Supports benchmarking meta-learning models that combine multiple hallucination signals.</a:t>
            </a:r>
          </a:p>
          <a:p>
            <a:pPr algn="just">
              <a:lnSpc>
                <a:spcPts val="3264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236047" y="2211758"/>
            <a:ext cx="2581330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20"/>
              </a:lnSpc>
            </a:pPr>
            <a:r>
              <a:rPr lang="en-US" b="true" sz="3800">
                <a:solidFill>
                  <a:srgbClr val="1D242B"/>
                </a:solidFill>
                <a:latin typeface="XM Yekan Bold"/>
                <a:ea typeface="XM Yekan Bold"/>
                <a:cs typeface="XM Yekan Bold"/>
                <a:sym typeface="XM Yekan Bold"/>
              </a:rPr>
              <a:t>SUMMARY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885126" y="2217383"/>
            <a:ext cx="8890869" cy="67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95"/>
              </a:lnSpc>
            </a:pPr>
            <a:r>
              <a:rPr lang="en-US" sz="4067" b="true">
                <a:solidFill>
                  <a:srgbClr val="1D242B"/>
                </a:solidFill>
                <a:latin typeface="XM Yekan Bold"/>
                <a:ea typeface="XM Yekan Bold"/>
                <a:cs typeface="XM Yekan Bold"/>
                <a:sym typeface="XM Yekan Bold"/>
              </a:rPr>
              <a:t>RELEVANCE TO THE TOPIC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-1646723" y="7762875"/>
            <a:ext cx="4563951" cy="4114800"/>
          </a:xfrm>
          <a:custGeom>
            <a:avLst/>
            <a:gdLst/>
            <a:ahLst/>
            <a:cxnLst/>
            <a:rect r="r" b="b" t="t" l="l"/>
            <a:pathLst>
              <a:path h="4114800" w="4563951">
                <a:moveTo>
                  <a:pt x="0" y="0"/>
                </a:moveTo>
                <a:lnTo>
                  <a:pt x="4563951" y="0"/>
                </a:lnTo>
                <a:lnTo>
                  <a:pt x="456395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15383371" y="-1654683"/>
            <a:ext cx="4563951" cy="4114800"/>
          </a:xfrm>
          <a:custGeom>
            <a:avLst/>
            <a:gdLst/>
            <a:ahLst/>
            <a:cxnLst/>
            <a:rect r="r" b="b" t="t" l="l"/>
            <a:pathLst>
              <a:path h="4114800" w="4563951">
                <a:moveTo>
                  <a:pt x="456395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563950" y="0"/>
                </a:lnTo>
                <a:lnTo>
                  <a:pt x="456395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29647" y="2949591"/>
            <a:ext cx="7702242" cy="6319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8344" indent="-229172" lvl="1">
              <a:lnSpc>
                <a:spcPts val="2972"/>
              </a:lnSpc>
              <a:buFont typeface="Arial"/>
              <a:buChar char="•"/>
            </a:pP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Introduces FELM, a comprehensive benchmark for evaluating factuality in LLM-generated text across five domains: world knowledge, science &amp; technology, mathematics, reasoning, and writing.</a:t>
            </a:r>
          </a:p>
          <a:p>
            <a:pPr algn="just" marL="458344" indent="-229172" lvl="1">
              <a:lnSpc>
                <a:spcPts val="2972"/>
              </a:lnSpc>
              <a:buFont typeface="Arial"/>
              <a:buChar char="•"/>
            </a:pP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Provides fine-grained, span-level annotations with explicit error types, explan</a:t>
            </a: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ation</a:t>
            </a: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s, and supporting or contradicting references.</a:t>
            </a:r>
          </a:p>
          <a:p>
            <a:pPr algn="just" marL="458344" indent="-229172" lvl="1">
              <a:lnSpc>
                <a:spcPts val="2972"/>
              </a:lnSpc>
              <a:buFont typeface="Arial"/>
              <a:buChar char="•"/>
            </a:pP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Moves beyond Wikipedia-centric evaluation by including diverse real-world domains and reasoning tasks.</a:t>
            </a:r>
          </a:p>
          <a:p>
            <a:pPr algn="just" marL="458344" indent="-229172" lvl="1">
              <a:lnSpc>
                <a:spcPts val="2972"/>
              </a:lnSpc>
              <a:buFont typeface="Arial"/>
              <a:buChar char="•"/>
            </a:pP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Evaluates both vanilla LLMs and retrieval-augmented models, showing that factuality detection remai</a:t>
            </a: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ns</a:t>
            </a: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 challenging even for state-of-the-art systems.</a:t>
            </a:r>
          </a:p>
          <a:p>
            <a:pPr algn="just" marL="458344" indent="-229172" lvl="1">
              <a:lnSpc>
                <a:spcPts val="2972"/>
              </a:lnSpc>
              <a:buFont typeface="Arial"/>
              <a:buChar char="•"/>
            </a:pP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Emp</a:t>
            </a: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hasizes the need for interpretable and fine-grained factuality evaluators.</a:t>
            </a:r>
          </a:p>
          <a:p>
            <a:pPr algn="just" marL="458344" indent="-229172" lvl="1">
              <a:lnSpc>
                <a:spcPts val="2972"/>
              </a:lnSpc>
              <a:buFont typeface="Arial"/>
              <a:buChar char="•"/>
            </a:pP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Limi</a:t>
            </a: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tations: focuses on evaluation rather than proposing new hallucination detection or mitigation methods.</a:t>
            </a:r>
          </a:p>
          <a:p>
            <a:pPr algn="just">
              <a:lnSpc>
                <a:spcPts val="2972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9092902" y="7103085"/>
            <a:ext cx="8166398" cy="1607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7"/>
              </a:lnSpc>
            </a:pPr>
            <a:r>
              <a:rPr lang="en-US" sz="2290">
                <a:solidFill>
                  <a:srgbClr val="1D242B"/>
                </a:solidFill>
                <a:latin typeface="Lovelo"/>
                <a:ea typeface="Lovelo"/>
                <a:cs typeface="Lovelo"/>
                <a:sym typeface="Lovelo"/>
              </a:rPr>
              <a:t>Key Takeaway</a:t>
            </a:r>
          </a:p>
          <a:p>
            <a:pPr algn="l">
              <a:lnSpc>
                <a:spcPts val="3207"/>
              </a:lnSpc>
              <a:spcBef>
                <a:spcPct val="0"/>
              </a:spcBef>
            </a:pP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FELM exposes the limitations of</a:t>
            </a: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 current factuality evaluators across domains, reinforcing the need</a:t>
            </a: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 for adaptive, meta-learning–based hallucination risk prediction.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1" y="0"/>
                </a:lnTo>
                <a:lnTo>
                  <a:pt x="522665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3061349" y="617220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1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1" y="0"/>
                </a:lnTo>
                <a:lnTo>
                  <a:pt x="5226651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82398" y="286863"/>
            <a:ext cx="17452471" cy="9533412"/>
          </a:xfrm>
          <a:custGeom>
            <a:avLst/>
            <a:gdLst/>
            <a:ahLst/>
            <a:cxnLst/>
            <a:rect r="r" b="b" t="t" l="l"/>
            <a:pathLst>
              <a:path h="9533412" w="17452471">
                <a:moveTo>
                  <a:pt x="0" y="0"/>
                </a:moveTo>
                <a:lnTo>
                  <a:pt x="17452471" y="0"/>
                </a:lnTo>
                <a:lnTo>
                  <a:pt x="17452471" y="9533412"/>
                </a:lnTo>
                <a:lnTo>
                  <a:pt x="0" y="95334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36047" y="1059881"/>
            <a:ext cx="15815477" cy="1131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89"/>
              </a:lnSpc>
            </a:pPr>
            <a:r>
              <a:rPr lang="en-US" sz="3278">
                <a:solidFill>
                  <a:srgbClr val="1D242B"/>
                </a:solidFill>
                <a:latin typeface="Lovelo"/>
                <a:ea typeface="Lovelo"/>
                <a:cs typeface="Lovelo"/>
                <a:sym typeface="Lovelo"/>
              </a:rPr>
              <a:t>AutoHall: Automated Hallucination Dataset Generation for LLMs (2025)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46190" y="3079140"/>
            <a:ext cx="8919155" cy="3671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03369" indent="-251684" lvl="1">
              <a:lnSpc>
                <a:spcPts val="3264"/>
              </a:lnSpc>
              <a:buFont typeface="Arial"/>
              <a:buChar char="•"/>
            </a:pP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Addresses the data scarcity problem for training hallucination detection and risk prediction models.</a:t>
            </a:r>
          </a:p>
          <a:p>
            <a:pPr algn="just" marL="503369" indent="-251684" lvl="1">
              <a:lnSpc>
                <a:spcPts val="3264"/>
              </a:lnSpc>
              <a:buFont typeface="Arial"/>
              <a:buChar char="•"/>
            </a:pP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Enables scalable generation of task- and model-specific training data, which is crucial for meta-learning frameworks.</a:t>
            </a:r>
          </a:p>
          <a:p>
            <a:pPr algn="just" marL="503369" indent="-251684" lvl="1">
              <a:lnSpc>
                <a:spcPts val="3264"/>
              </a:lnSpc>
              <a:buFont typeface="Arial"/>
              <a:buChar char="•"/>
            </a:pP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Highl</a:t>
            </a: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ights variability in hallucination patterns across models, motivating adaptive, model-aware risk prediction.</a:t>
            </a:r>
          </a:p>
          <a:p>
            <a:pPr algn="just" marL="503369" indent="-251684" lvl="1">
              <a:lnSpc>
                <a:spcPts val="3264"/>
              </a:lnSpc>
              <a:buFont typeface="Arial"/>
              <a:buChar char="•"/>
            </a:pP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Prov</a:t>
            </a: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ides datasets and detection signals that can support meta-learning across heterogeneous LLMs.</a:t>
            </a:r>
          </a:p>
          <a:p>
            <a:pPr algn="just">
              <a:lnSpc>
                <a:spcPts val="3264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236047" y="2211758"/>
            <a:ext cx="2581330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20"/>
              </a:lnSpc>
            </a:pPr>
            <a:r>
              <a:rPr lang="en-US" b="true" sz="3800">
                <a:solidFill>
                  <a:srgbClr val="1D242B"/>
                </a:solidFill>
                <a:latin typeface="XM Yekan Bold"/>
                <a:ea typeface="XM Yekan Bold"/>
                <a:cs typeface="XM Yekan Bold"/>
                <a:sym typeface="XM Yekan Bold"/>
              </a:rPr>
              <a:t>SUMMARY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885126" y="2217383"/>
            <a:ext cx="8890869" cy="67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95"/>
              </a:lnSpc>
            </a:pPr>
            <a:r>
              <a:rPr lang="en-US" sz="4067" b="true">
                <a:solidFill>
                  <a:srgbClr val="1D242B"/>
                </a:solidFill>
                <a:latin typeface="XM Yekan Bold"/>
                <a:ea typeface="XM Yekan Bold"/>
                <a:cs typeface="XM Yekan Bold"/>
                <a:sym typeface="XM Yekan Bold"/>
              </a:rPr>
              <a:t>RELEVANCE TO THE TOPIC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-1646723" y="7762875"/>
            <a:ext cx="4563951" cy="4114800"/>
          </a:xfrm>
          <a:custGeom>
            <a:avLst/>
            <a:gdLst/>
            <a:ahLst/>
            <a:cxnLst/>
            <a:rect r="r" b="b" t="t" l="l"/>
            <a:pathLst>
              <a:path h="4114800" w="4563951">
                <a:moveTo>
                  <a:pt x="0" y="0"/>
                </a:moveTo>
                <a:lnTo>
                  <a:pt x="4563951" y="0"/>
                </a:lnTo>
                <a:lnTo>
                  <a:pt x="456395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15383371" y="-1654683"/>
            <a:ext cx="4563951" cy="4114800"/>
          </a:xfrm>
          <a:custGeom>
            <a:avLst/>
            <a:gdLst/>
            <a:ahLst/>
            <a:cxnLst/>
            <a:rect r="r" b="b" t="t" l="l"/>
            <a:pathLst>
              <a:path h="4114800" w="4563951">
                <a:moveTo>
                  <a:pt x="456395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563950" y="0"/>
                </a:lnTo>
                <a:lnTo>
                  <a:pt x="456395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29647" y="2949591"/>
            <a:ext cx="7702242" cy="6692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8344" indent="-229172" lvl="1">
              <a:lnSpc>
                <a:spcPts val="2972"/>
              </a:lnSpc>
              <a:buFont typeface="Arial"/>
              <a:buChar char="•"/>
            </a:pP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Proposes AutoHall, an automated framework for constructing model-specific hallucination datasets without manual annotation.</a:t>
            </a:r>
          </a:p>
          <a:p>
            <a:pPr algn="just" marL="458344" indent="-229172" lvl="1">
              <a:lnSpc>
                <a:spcPts val="2972"/>
              </a:lnSpc>
              <a:buFont typeface="Arial"/>
              <a:buChar char="•"/>
            </a:pP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Leverages existing fact-checking datasets to generate hallucinated references and determine factual </a:t>
            </a: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incon</a:t>
            </a: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sistencies automatically.</a:t>
            </a:r>
          </a:p>
          <a:p>
            <a:pPr algn="just" marL="458344" indent="-229172" lvl="1">
              <a:lnSpc>
                <a:spcPts val="2972"/>
              </a:lnSpc>
              <a:buFont typeface="Arial"/>
              <a:buChar char="•"/>
            </a:pP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Reveals that different LLMs exhibit distinct hallucination rates and types, highlighting model-dependent hallucination behavior.</a:t>
            </a:r>
          </a:p>
          <a:p>
            <a:pPr algn="just" marL="458344" indent="-229172" lvl="1">
              <a:lnSpc>
                <a:spcPts val="2972"/>
              </a:lnSpc>
              <a:buFont typeface="Arial"/>
              <a:buChar char="•"/>
            </a:pP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Introduces a zero-resource, black-box hallucination detection method based on self-contradiction among generated references.</a:t>
            </a:r>
          </a:p>
          <a:p>
            <a:pPr algn="just" marL="458344" indent="-229172" lvl="1">
              <a:lnSpc>
                <a:spcPts val="2972"/>
              </a:lnSpc>
              <a:buFont typeface="Arial"/>
              <a:buChar char="•"/>
            </a:pP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Pro</a:t>
            </a: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vides empirical analysis showing hallucination prevalence of approximately 20–30% across modern LLMs.</a:t>
            </a:r>
          </a:p>
          <a:p>
            <a:pPr algn="just" marL="458344" indent="-229172" lvl="1">
              <a:lnSpc>
                <a:spcPts val="2972"/>
              </a:lnSpc>
              <a:buFont typeface="Arial"/>
              <a:buChar char="•"/>
            </a:pP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Limi</a:t>
            </a: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tations: focuses primarily on factual hallucinations and dataset construction rather than general-purpose risk prediction.</a:t>
            </a:r>
          </a:p>
          <a:p>
            <a:pPr algn="just">
              <a:lnSpc>
                <a:spcPts val="2972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9092902" y="7103085"/>
            <a:ext cx="8166398" cy="1607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7"/>
              </a:lnSpc>
            </a:pPr>
            <a:r>
              <a:rPr lang="en-US" sz="2290">
                <a:solidFill>
                  <a:srgbClr val="1D242B"/>
                </a:solidFill>
                <a:latin typeface="Lovelo"/>
                <a:ea typeface="Lovelo"/>
                <a:cs typeface="Lovelo"/>
                <a:sym typeface="Lovelo"/>
              </a:rPr>
              <a:t>Key Takeaway</a:t>
            </a:r>
          </a:p>
          <a:p>
            <a:pPr algn="l">
              <a:lnSpc>
                <a:spcPts val="3207"/>
              </a:lnSpc>
              <a:spcBef>
                <a:spcPct val="0"/>
              </a:spcBef>
            </a:pP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AutoHall</a:t>
            </a: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 enables scalable, model-specific hallucination datasets</a:t>
            </a: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, supporting meta-learning approaches that adapt hallucination risk prediction across models and tasks.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1" y="0"/>
                </a:lnTo>
                <a:lnTo>
                  <a:pt x="522665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3061349" y="617220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1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1" y="0"/>
                </a:lnTo>
                <a:lnTo>
                  <a:pt x="5226651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82398" y="286863"/>
            <a:ext cx="17452471" cy="9533412"/>
          </a:xfrm>
          <a:custGeom>
            <a:avLst/>
            <a:gdLst/>
            <a:ahLst/>
            <a:cxnLst/>
            <a:rect r="r" b="b" t="t" l="l"/>
            <a:pathLst>
              <a:path h="9533412" w="17452471">
                <a:moveTo>
                  <a:pt x="0" y="0"/>
                </a:moveTo>
                <a:lnTo>
                  <a:pt x="17452471" y="0"/>
                </a:lnTo>
                <a:lnTo>
                  <a:pt x="17452471" y="9533412"/>
                </a:lnTo>
                <a:lnTo>
                  <a:pt x="0" y="95334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36047" y="1059881"/>
            <a:ext cx="15815477" cy="557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89"/>
              </a:lnSpc>
            </a:pPr>
            <a:r>
              <a:rPr lang="en-US" sz="3278">
                <a:solidFill>
                  <a:srgbClr val="1D242B"/>
                </a:solidFill>
                <a:latin typeface="Lovelo"/>
                <a:ea typeface="Lovelo"/>
                <a:cs typeface="Lovelo"/>
                <a:sym typeface="Lovelo"/>
              </a:rPr>
              <a:t>FACTOOL: Tool-Augmented Factuality Detection for Generative AI (2023)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46190" y="3079140"/>
            <a:ext cx="8919155" cy="4081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03369" indent="-251684" lvl="1">
              <a:lnSpc>
                <a:spcPts val="3264"/>
              </a:lnSpc>
              <a:buFont typeface="Arial"/>
              <a:buChar char="•"/>
            </a:pP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Illustrates a mitigation-oriented approach that complements detection by grounding outputs in external evidence.</a:t>
            </a:r>
          </a:p>
          <a:p>
            <a:pPr algn="just" marL="503369" indent="-251684" lvl="1">
              <a:lnSpc>
                <a:spcPts val="3264"/>
              </a:lnSpc>
              <a:buFont typeface="Arial"/>
              <a:buChar char="•"/>
            </a:pP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Highl</a:t>
            </a: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ights trade-offs between accuracy and efficiency, motivating lightweight risk prediction when tool use is costly.</a:t>
            </a:r>
          </a:p>
          <a:p>
            <a:pPr algn="just" marL="503369" indent="-251684" lvl="1">
              <a:lnSpc>
                <a:spcPts val="3264"/>
              </a:lnSpc>
              <a:buFont typeface="Arial"/>
              <a:buChar char="•"/>
            </a:pP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Prov</a:t>
            </a: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ides structured signals (claim validity, evidence consistency) that can be integrated as features in meta-learning frameworks.</a:t>
            </a:r>
          </a:p>
          <a:p>
            <a:pPr algn="just" marL="503369" indent="-251684" lvl="1">
              <a:lnSpc>
                <a:spcPts val="3264"/>
              </a:lnSpc>
              <a:buFont typeface="Arial"/>
              <a:buChar char="•"/>
            </a:pP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Reinf</a:t>
            </a: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orces the need for adaptive risk estimation to decide when tool-based verification is necessary.</a:t>
            </a:r>
          </a:p>
          <a:p>
            <a:pPr algn="just">
              <a:lnSpc>
                <a:spcPts val="3264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236047" y="2211758"/>
            <a:ext cx="2581330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20"/>
              </a:lnSpc>
            </a:pPr>
            <a:r>
              <a:rPr lang="en-US" b="true" sz="3800">
                <a:solidFill>
                  <a:srgbClr val="1D242B"/>
                </a:solidFill>
                <a:latin typeface="XM Yekan Bold"/>
                <a:ea typeface="XM Yekan Bold"/>
                <a:cs typeface="XM Yekan Bold"/>
                <a:sym typeface="XM Yekan Bold"/>
              </a:rPr>
              <a:t>SUMMARY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885126" y="2217383"/>
            <a:ext cx="8890869" cy="67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95"/>
              </a:lnSpc>
            </a:pPr>
            <a:r>
              <a:rPr lang="en-US" sz="4067" b="true">
                <a:solidFill>
                  <a:srgbClr val="1D242B"/>
                </a:solidFill>
                <a:latin typeface="XM Yekan Bold"/>
                <a:ea typeface="XM Yekan Bold"/>
                <a:cs typeface="XM Yekan Bold"/>
                <a:sym typeface="XM Yekan Bold"/>
              </a:rPr>
              <a:t>RELEVANCE TO THE TOPIC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-1646723" y="7762875"/>
            <a:ext cx="4563951" cy="4114800"/>
          </a:xfrm>
          <a:custGeom>
            <a:avLst/>
            <a:gdLst/>
            <a:ahLst/>
            <a:cxnLst/>
            <a:rect r="r" b="b" t="t" l="l"/>
            <a:pathLst>
              <a:path h="4114800" w="4563951">
                <a:moveTo>
                  <a:pt x="0" y="0"/>
                </a:moveTo>
                <a:lnTo>
                  <a:pt x="4563951" y="0"/>
                </a:lnTo>
                <a:lnTo>
                  <a:pt x="456395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15383371" y="-1654683"/>
            <a:ext cx="4563951" cy="4114800"/>
          </a:xfrm>
          <a:custGeom>
            <a:avLst/>
            <a:gdLst/>
            <a:ahLst/>
            <a:cxnLst/>
            <a:rect r="r" b="b" t="t" l="l"/>
            <a:pathLst>
              <a:path h="4114800" w="4563951">
                <a:moveTo>
                  <a:pt x="456395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563950" y="0"/>
                </a:lnTo>
                <a:lnTo>
                  <a:pt x="456395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29647" y="2949591"/>
            <a:ext cx="7916544" cy="6319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8344" indent="-229172" lvl="1">
              <a:lnSpc>
                <a:spcPts val="2972"/>
              </a:lnSpc>
              <a:buFont typeface="Arial"/>
              <a:buChar char="•"/>
            </a:pP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Proposes FACTOOL, a task- and domain-agnostic framework for detecting factual errors in LLM-generated text using tool augmentation.</a:t>
            </a:r>
          </a:p>
          <a:p>
            <a:pPr algn="just" marL="458344" indent="-229172" lvl="1">
              <a:lnSpc>
                <a:spcPts val="2972"/>
              </a:lnSpc>
              <a:buFont typeface="Arial"/>
              <a:buChar char="•"/>
            </a:pP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Dec</a:t>
            </a: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omposes long-form generations into claims, generates verification queries, retrieves evidence via external tools (e.g., web search, scholar, code interpreters), and perfo</a:t>
            </a: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rm</a:t>
            </a: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s reasoning-based verification.</a:t>
            </a:r>
          </a:p>
          <a:p>
            <a:pPr algn="just" marL="458344" indent="-229172" lvl="1">
              <a:lnSpc>
                <a:spcPts val="2972"/>
              </a:lnSpc>
              <a:buFont typeface="Arial"/>
              <a:buChar char="•"/>
            </a:pP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Supports multiple tasks, including knowledge-based QA, code generation, mathematical reasoning, and scientific writing.</a:t>
            </a:r>
          </a:p>
          <a:p>
            <a:pPr algn="just" marL="458344" indent="-229172" lvl="1">
              <a:lnSpc>
                <a:spcPts val="2972"/>
              </a:lnSpc>
              <a:buFont typeface="Arial"/>
              <a:buChar char="•"/>
            </a:pP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Demonstrates impr</a:t>
            </a: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ov</a:t>
            </a: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ed factuality detection compared to task-specific baselines, especially in complex, long-form outputs.</a:t>
            </a:r>
          </a:p>
          <a:p>
            <a:pPr algn="just" marL="458344" indent="-229172" lvl="1">
              <a:lnSpc>
                <a:spcPts val="2972"/>
              </a:lnSpc>
              <a:buFont typeface="Arial"/>
              <a:buChar char="•"/>
            </a:pP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Emphasizes evidence-backed verification and interpretable decision-making.</a:t>
            </a:r>
          </a:p>
          <a:p>
            <a:pPr algn="just" marL="458344" indent="-229172" lvl="1">
              <a:lnSpc>
                <a:spcPts val="2972"/>
              </a:lnSpc>
              <a:buFont typeface="Arial"/>
              <a:buChar char="•"/>
            </a:pP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Limi</a:t>
            </a: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tations: depends on external tools and retrieval quality, increasing latency and reducing applicability in constrained or offline settings.</a:t>
            </a:r>
          </a:p>
          <a:p>
            <a:pPr algn="just">
              <a:lnSpc>
                <a:spcPts val="2972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9092902" y="7103085"/>
            <a:ext cx="8166398" cy="1607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7"/>
              </a:lnSpc>
            </a:pPr>
            <a:r>
              <a:rPr lang="en-US" sz="2290">
                <a:solidFill>
                  <a:srgbClr val="1D242B"/>
                </a:solidFill>
                <a:latin typeface="Lovelo"/>
                <a:ea typeface="Lovelo"/>
                <a:cs typeface="Lovelo"/>
                <a:sym typeface="Lovelo"/>
              </a:rPr>
              <a:t>Key Takeaway</a:t>
            </a:r>
          </a:p>
          <a:p>
            <a:pPr algn="l">
              <a:lnSpc>
                <a:spcPts val="3207"/>
              </a:lnSpc>
              <a:spcBef>
                <a:spcPct val="0"/>
              </a:spcBef>
            </a:pP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To</a:t>
            </a: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o</a:t>
            </a: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l-</a:t>
            </a: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a</a:t>
            </a: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ugm</a:t>
            </a: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ente</a:t>
            </a: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d</a:t>
            </a: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 </a:t>
            </a: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v</a:t>
            </a: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e</a:t>
            </a: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rific</a:t>
            </a: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at</a:t>
            </a: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ion</a:t>
            </a: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 improves</a:t>
            </a: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 fa</a:t>
            </a: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c</a:t>
            </a: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tual</a:t>
            </a: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i</a:t>
            </a: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ty bu</a:t>
            </a: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t</a:t>
            </a: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 </a:t>
            </a: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i</a:t>
            </a: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n</a:t>
            </a: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cu</a:t>
            </a: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rs </a:t>
            </a: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c</a:t>
            </a: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ost </a:t>
            </a: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an</a:t>
            </a: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d</a:t>
            </a: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 </a:t>
            </a: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la</a:t>
            </a: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te</a:t>
            </a: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n</a:t>
            </a: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cy</a:t>
            </a: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, motivating meta-learning</a:t>
            </a: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–b</a:t>
            </a: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a</a:t>
            </a: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s</a:t>
            </a: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e</a:t>
            </a: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d</a:t>
            </a: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 r</a:t>
            </a: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i</a:t>
            </a: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sk</a:t>
            </a: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 </a:t>
            </a: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p</a:t>
            </a: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r</a:t>
            </a: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e</a:t>
            </a: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di</a:t>
            </a: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c</a:t>
            </a: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t</a:t>
            </a: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i</a:t>
            </a: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o</a:t>
            </a: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n</a:t>
            </a: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 </a:t>
            </a: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to </a:t>
            </a: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select</a:t>
            </a: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i</a:t>
            </a: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vely</a:t>
            </a: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 </a:t>
            </a: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t</a:t>
            </a: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r</a:t>
            </a: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igg</a:t>
            </a: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e</a:t>
            </a: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r m</a:t>
            </a: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i</a:t>
            </a: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tiga</a:t>
            </a: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tion.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1" y="0"/>
                </a:lnTo>
                <a:lnTo>
                  <a:pt x="522665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3061349" y="617220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1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1" y="0"/>
                </a:lnTo>
                <a:lnTo>
                  <a:pt x="5226651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82398" y="286863"/>
            <a:ext cx="17452471" cy="9533412"/>
          </a:xfrm>
          <a:custGeom>
            <a:avLst/>
            <a:gdLst/>
            <a:ahLst/>
            <a:cxnLst/>
            <a:rect r="r" b="b" t="t" l="l"/>
            <a:pathLst>
              <a:path h="9533412" w="17452471">
                <a:moveTo>
                  <a:pt x="0" y="0"/>
                </a:moveTo>
                <a:lnTo>
                  <a:pt x="17452471" y="0"/>
                </a:lnTo>
                <a:lnTo>
                  <a:pt x="17452471" y="9533412"/>
                </a:lnTo>
                <a:lnTo>
                  <a:pt x="0" y="95334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36047" y="1059881"/>
            <a:ext cx="15815477" cy="1131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89"/>
              </a:lnSpc>
            </a:pPr>
            <a:r>
              <a:rPr lang="en-US" sz="3278">
                <a:solidFill>
                  <a:srgbClr val="1D242B"/>
                </a:solidFill>
                <a:latin typeface="Lovelo"/>
                <a:ea typeface="Lovelo"/>
                <a:cs typeface="Lovelo"/>
                <a:sym typeface="Lovelo"/>
              </a:rPr>
              <a:t>Chain-of-Verification (CoVe): Reducing Hallucinations via Self-Verification (2023)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46190" y="3079140"/>
            <a:ext cx="8919155" cy="3671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03369" indent="-251684" lvl="1">
              <a:lnSpc>
                <a:spcPts val="3264"/>
              </a:lnSpc>
              <a:buFont typeface="Arial"/>
              <a:buChar char="•"/>
            </a:pP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Represents a mitigation-focused approach complementary to post-hoc detection.</a:t>
            </a:r>
          </a:p>
          <a:p>
            <a:pPr algn="just" marL="503369" indent="-251684" lvl="1">
              <a:lnSpc>
                <a:spcPts val="3264"/>
              </a:lnSpc>
              <a:buFont typeface="Arial"/>
              <a:buChar char="•"/>
            </a:pP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Highl</a:t>
            </a: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ights the cost–accuracy trade-off, motivating risk prediction to decide when verification is necessary.</a:t>
            </a:r>
          </a:p>
          <a:p>
            <a:pPr algn="just" marL="503369" indent="-251684" lvl="1">
              <a:lnSpc>
                <a:spcPts val="3264"/>
              </a:lnSpc>
              <a:buFont typeface="Arial"/>
              <a:buChar char="•"/>
            </a:pP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Pro</a:t>
            </a: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duces intermediate verification signals that can serve as features for meta-learning–based risk estimation.</a:t>
            </a:r>
          </a:p>
          <a:p>
            <a:pPr algn="just" marL="503369" indent="-251684" lvl="1">
              <a:lnSpc>
                <a:spcPts val="3264"/>
              </a:lnSpc>
              <a:buFont typeface="Arial"/>
              <a:buChar char="•"/>
            </a:pP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Reinf</a:t>
            </a: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orces the need for adaptive control policies that trigger mitigation selectively based on predicted hallucination risk.</a:t>
            </a:r>
          </a:p>
          <a:p>
            <a:pPr algn="just">
              <a:lnSpc>
                <a:spcPts val="3264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236047" y="2211758"/>
            <a:ext cx="2581330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20"/>
              </a:lnSpc>
            </a:pPr>
            <a:r>
              <a:rPr lang="en-US" b="true" sz="3800">
                <a:solidFill>
                  <a:srgbClr val="1D242B"/>
                </a:solidFill>
                <a:latin typeface="XM Yekan Bold"/>
                <a:ea typeface="XM Yekan Bold"/>
                <a:cs typeface="XM Yekan Bold"/>
                <a:sym typeface="XM Yekan Bold"/>
              </a:rPr>
              <a:t>SUMMARY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885126" y="2217383"/>
            <a:ext cx="8890869" cy="67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95"/>
              </a:lnSpc>
            </a:pPr>
            <a:r>
              <a:rPr lang="en-US" sz="4067" b="true">
                <a:solidFill>
                  <a:srgbClr val="1D242B"/>
                </a:solidFill>
                <a:latin typeface="XM Yekan Bold"/>
                <a:ea typeface="XM Yekan Bold"/>
                <a:cs typeface="XM Yekan Bold"/>
                <a:sym typeface="XM Yekan Bold"/>
              </a:rPr>
              <a:t>RELEVANCE TO THE TOPIC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-1646723" y="7762875"/>
            <a:ext cx="4563951" cy="4114800"/>
          </a:xfrm>
          <a:custGeom>
            <a:avLst/>
            <a:gdLst/>
            <a:ahLst/>
            <a:cxnLst/>
            <a:rect r="r" b="b" t="t" l="l"/>
            <a:pathLst>
              <a:path h="4114800" w="4563951">
                <a:moveTo>
                  <a:pt x="0" y="0"/>
                </a:moveTo>
                <a:lnTo>
                  <a:pt x="4563951" y="0"/>
                </a:lnTo>
                <a:lnTo>
                  <a:pt x="456395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15383371" y="-1654683"/>
            <a:ext cx="4563951" cy="4114800"/>
          </a:xfrm>
          <a:custGeom>
            <a:avLst/>
            <a:gdLst/>
            <a:ahLst/>
            <a:cxnLst/>
            <a:rect r="r" b="b" t="t" l="l"/>
            <a:pathLst>
              <a:path h="4114800" w="4563951">
                <a:moveTo>
                  <a:pt x="456395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563950" y="0"/>
                </a:lnTo>
                <a:lnTo>
                  <a:pt x="456395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29647" y="2949591"/>
            <a:ext cx="7702242" cy="5574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8344" indent="-229172" lvl="1">
              <a:lnSpc>
                <a:spcPts val="2972"/>
              </a:lnSpc>
              <a:buFont typeface="Arial"/>
              <a:buChar char="•"/>
            </a:pP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Introduces Chain-of-Verification (CoVe), a generation-time method where the model verifies its own outputs to reduce hallucinations.</a:t>
            </a:r>
          </a:p>
          <a:p>
            <a:pPr algn="just" marL="458344" indent="-229172" lvl="1">
              <a:lnSpc>
                <a:spcPts val="2972"/>
              </a:lnSpc>
              <a:buFont typeface="Arial"/>
              <a:buChar char="•"/>
            </a:pP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The </a:t>
            </a: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model first produces a draft answer, then plans verification questions, answers them independently, and finally revises the response based on verification results.</a:t>
            </a:r>
          </a:p>
          <a:p>
            <a:pPr algn="just" marL="458344" indent="-229172" lvl="1">
              <a:lnSpc>
                <a:spcPts val="2972"/>
              </a:lnSpc>
              <a:buFont typeface="Arial"/>
              <a:buChar char="•"/>
            </a:pP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D</a:t>
            </a: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emonstrates consistent reduct</a:t>
            </a: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ion</a:t>
            </a: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s in hallucinations across QA, list-based queries, and long-form generation.</a:t>
            </a:r>
          </a:p>
          <a:p>
            <a:pPr algn="just" marL="458344" indent="-229172" lvl="1">
              <a:lnSpc>
                <a:spcPts val="2972"/>
              </a:lnSpc>
              <a:buFont typeface="Arial"/>
              <a:buChar char="•"/>
            </a:pP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Shows that factored verification (preventing conditioning on the initial draft) improves correction effective</a:t>
            </a: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n</a:t>
            </a: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ess.</a:t>
            </a:r>
          </a:p>
          <a:p>
            <a:pPr algn="just" marL="458344" indent="-229172" lvl="1">
              <a:lnSpc>
                <a:spcPts val="2972"/>
              </a:lnSpc>
              <a:buFont typeface="Arial"/>
              <a:buChar char="•"/>
            </a:pP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Hig</a:t>
            </a: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hlights the role of deliberate self-checking in improving factual accuracy during generation.</a:t>
            </a:r>
          </a:p>
          <a:p>
            <a:pPr algn="just" marL="458344" indent="-229172" lvl="1">
              <a:lnSpc>
                <a:spcPts val="2972"/>
              </a:lnSpc>
              <a:buFont typeface="Arial"/>
              <a:buChar char="•"/>
            </a:pP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Limi</a:t>
            </a: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tations: increases inference cost and latency; effectiveness depends on the model’s verification ability.</a:t>
            </a:r>
          </a:p>
          <a:p>
            <a:pPr algn="just">
              <a:lnSpc>
                <a:spcPts val="2972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9092902" y="7103085"/>
            <a:ext cx="8166398" cy="1607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7"/>
              </a:lnSpc>
            </a:pPr>
            <a:r>
              <a:rPr lang="en-US" sz="2290">
                <a:solidFill>
                  <a:srgbClr val="1D242B"/>
                </a:solidFill>
                <a:latin typeface="Lovelo"/>
                <a:ea typeface="Lovelo"/>
                <a:cs typeface="Lovelo"/>
                <a:sym typeface="Lovelo"/>
              </a:rPr>
              <a:t>Key Takeaway</a:t>
            </a:r>
          </a:p>
          <a:p>
            <a:pPr algn="l">
              <a:lnSpc>
                <a:spcPts val="3207"/>
              </a:lnSpc>
              <a:spcBef>
                <a:spcPct val="0"/>
              </a:spcBef>
            </a:pP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Self-verificat</a:t>
            </a: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ion can reduce hallucinations but is costly</a:t>
            </a: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, motivating meta-learning–based risk prediction to apply verification selectively.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1" y="0"/>
                </a:lnTo>
                <a:lnTo>
                  <a:pt x="522665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3061349" y="617220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1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1" y="0"/>
                </a:lnTo>
                <a:lnTo>
                  <a:pt x="5226651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82398" y="286863"/>
            <a:ext cx="17452471" cy="9533412"/>
          </a:xfrm>
          <a:custGeom>
            <a:avLst/>
            <a:gdLst/>
            <a:ahLst/>
            <a:cxnLst/>
            <a:rect r="r" b="b" t="t" l="l"/>
            <a:pathLst>
              <a:path h="9533412" w="17452471">
                <a:moveTo>
                  <a:pt x="0" y="0"/>
                </a:moveTo>
                <a:lnTo>
                  <a:pt x="17452471" y="0"/>
                </a:lnTo>
                <a:lnTo>
                  <a:pt x="17452471" y="9533412"/>
                </a:lnTo>
                <a:lnTo>
                  <a:pt x="0" y="95334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36047" y="1059881"/>
            <a:ext cx="15815477" cy="1131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89"/>
              </a:lnSpc>
            </a:pPr>
            <a:r>
              <a:rPr lang="en-US" sz="3278">
                <a:solidFill>
                  <a:srgbClr val="1D242B"/>
                </a:solidFill>
                <a:latin typeface="Lovelo"/>
                <a:ea typeface="Lovelo"/>
                <a:cs typeface="Lovelo"/>
                <a:sym typeface="Lovelo"/>
              </a:rPr>
              <a:t>MetaCheckGPT: Multi-task Hallucination Detection using Meta-Models (SemEval 2024)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46190" y="3079140"/>
            <a:ext cx="8919155" cy="3671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03369" indent="-251684" lvl="1">
              <a:lnSpc>
                <a:spcPts val="3264"/>
              </a:lnSpc>
              <a:buFont typeface="Arial"/>
              <a:buChar char="•"/>
            </a:pP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Directly aligns with meta-learning–based hallucination detection, making it a key reference for this work.</a:t>
            </a:r>
          </a:p>
          <a:p>
            <a:pPr algn="just" marL="503369" indent="-251684" lvl="1">
              <a:lnSpc>
                <a:spcPts val="3264"/>
              </a:lnSpc>
              <a:buFont typeface="Arial"/>
              <a:buChar char="•"/>
            </a:pP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Demons</a:t>
            </a: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trates how meta-models can aggregate heterogeneous hallucination signals across tasks and models.</a:t>
            </a:r>
          </a:p>
          <a:p>
            <a:pPr algn="just" marL="503369" indent="-251684" lvl="1">
              <a:lnSpc>
                <a:spcPts val="3264"/>
              </a:lnSpc>
              <a:buFont typeface="Arial"/>
              <a:buChar char="•"/>
            </a:pP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Prov</a:t>
            </a: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ides empirical evidence that learning to combine signals outperforms fixed detection rules.</a:t>
            </a:r>
          </a:p>
          <a:p>
            <a:pPr algn="just" marL="503369" indent="-251684" lvl="1">
              <a:lnSpc>
                <a:spcPts val="3264"/>
              </a:lnSpc>
              <a:buFont typeface="Arial"/>
              <a:buChar char="•"/>
            </a:pP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Motivates extending meta-learning from b</a:t>
            </a: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ina</a:t>
            </a: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ry detection to continuous hallucination risk prediction.</a:t>
            </a:r>
          </a:p>
          <a:p>
            <a:pPr algn="just">
              <a:lnSpc>
                <a:spcPts val="3264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236047" y="2211758"/>
            <a:ext cx="2581330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20"/>
              </a:lnSpc>
            </a:pPr>
            <a:r>
              <a:rPr lang="en-US" b="true" sz="3800">
                <a:solidFill>
                  <a:srgbClr val="1D242B"/>
                </a:solidFill>
                <a:latin typeface="XM Yekan Bold"/>
                <a:ea typeface="XM Yekan Bold"/>
                <a:cs typeface="XM Yekan Bold"/>
                <a:sym typeface="XM Yekan Bold"/>
              </a:rPr>
              <a:t>SUMMARY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885126" y="2217383"/>
            <a:ext cx="8890869" cy="67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95"/>
              </a:lnSpc>
            </a:pPr>
            <a:r>
              <a:rPr lang="en-US" sz="4067" b="true">
                <a:solidFill>
                  <a:srgbClr val="1D242B"/>
                </a:solidFill>
                <a:latin typeface="XM Yekan Bold"/>
                <a:ea typeface="XM Yekan Bold"/>
                <a:cs typeface="XM Yekan Bold"/>
                <a:sym typeface="XM Yekan Bold"/>
              </a:rPr>
              <a:t>RELEVANCE TO THE TOPIC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-1646723" y="7762875"/>
            <a:ext cx="4563951" cy="4114800"/>
          </a:xfrm>
          <a:custGeom>
            <a:avLst/>
            <a:gdLst/>
            <a:ahLst/>
            <a:cxnLst/>
            <a:rect r="r" b="b" t="t" l="l"/>
            <a:pathLst>
              <a:path h="4114800" w="4563951">
                <a:moveTo>
                  <a:pt x="0" y="0"/>
                </a:moveTo>
                <a:lnTo>
                  <a:pt x="4563951" y="0"/>
                </a:lnTo>
                <a:lnTo>
                  <a:pt x="456395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15383371" y="-1654683"/>
            <a:ext cx="4563951" cy="4114800"/>
          </a:xfrm>
          <a:custGeom>
            <a:avLst/>
            <a:gdLst/>
            <a:ahLst/>
            <a:cxnLst/>
            <a:rect r="r" b="b" t="t" l="l"/>
            <a:pathLst>
              <a:path h="4114800" w="4563951">
                <a:moveTo>
                  <a:pt x="456395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563950" y="0"/>
                </a:lnTo>
                <a:lnTo>
                  <a:pt x="456395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29647" y="2949591"/>
            <a:ext cx="7702242" cy="5946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8344" indent="-229172" lvl="1">
              <a:lnSpc>
                <a:spcPts val="2972"/>
              </a:lnSpc>
              <a:buFont typeface="Arial"/>
              <a:buChar char="•"/>
            </a:pP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Proposes MetaCheckGPT, a meta-learning–based hallucination detection framework developed for SemEval-2024 Task 6 (SHROOM).</a:t>
            </a:r>
          </a:p>
          <a:p>
            <a:pPr algn="just" marL="458344" indent="-229172" lvl="1">
              <a:lnSpc>
                <a:spcPts val="2972"/>
              </a:lnSpc>
              <a:buFont typeface="Arial"/>
              <a:buChar char="•"/>
            </a:pP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Combines outputs and uncertainty signals from multiple large language models into a meta-regressor that predicts hallucination likelihood.</a:t>
            </a:r>
          </a:p>
          <a:p>
            <a:pPr algn="just" marL="458344" indent="-229172" lvl="1">
              <a:lnSpc>
                <a:spcPts val="2972"/>
              </a:lnSpc>
              <a:buFont typeface="Arial"/>
              <a:buChar char="•"/>
            </a:pP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Suppo</a:t>
            </a: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rts both model-aware (using log</a:t>
            </a: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it</a:t>
            </a: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s / probabilities) and model-agnostic (black-box) detection settings.</a:t>
            </a:r>
          </a:p>
          <a:p>
            <a:pPr algn="just" marL="458344" indent="-229172" lvl="1">
              <a:lnSpc>
                <a:spcPts val="2972"/>
              </a:lnSpc>
              <a:buFont typeface="Arial"/>
              <a:buChar char="•"/>
            </a:pP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Evaluated across multiple generation tasks including definition modeling, machine translati</a:t>
            </a: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on</a:t>
            </a: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, and paraphrase generation.</a:t>
            </a:r>
          </a:p>
          <a:p>
            <a:pPr algn="just" marL="458344" indent="-229172" lvl="1">
              <a:lnSpc>
                <a:spcPts val="2972"/>
              </a:lnSpc>
              <a:buFont typeface="Arial"/>
              <a:buChar char="•"/>
            </a:pP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D</a:t>
            </a: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emonstrates improved hallucination detection performance compared to single-model and heuristic-based approaches.</a:t>
            </a:r>
          </a:p>
          <a:p>
            <a:pPr algn="just" marL="458344" indent="-229172" lvl="1">
              <a:lnSpc>
                <a:spcPts val="2972"/>
              </a:lnSpc>
              <a:buFont typeface="Arial"/>
              <a:buChar char="•"/>
            </a:pP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Limi</a:t>
            </a: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tations: relies on supervised task-specific data and focuses on detection rather than calibrated risk estimation.</a:t>
            </a:r>
          </a:p>
          <a:p>
            <a:pPr algn="just">
              <a:lnSpc>
                <a:spcPts val="2972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9092902" y="7103085"/>
            <a:ext cx="8166398" cy="1607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7"/>
              </a:lnSpc>
            </a:pPr>
            <a:r>
              <a:rPr lang="en-US" sz="2290">
                <a:solidFill>
                  <a:srgbClr val="1D242B"/>
                </a:solidFill>
                <a:latin typeface="Lovelo"/>
                <a:ea typeface="Lovelo"/>
                <a:cs typeface="Lovelo"/>
                <a:sym typeface="Lovelo"/>
              </a:rPr>
              <a:t>Key Takeaway</a:t>
            </a:r>
          </a:p>
          <a:p>
            <a:pPr algn="l">
              <a:lnSpc>
                <a:spcPts val="3207"/>
              </a:lnSpc>
              <a:spcBef>
                <a:spcPct val="0"/>
              </a:spcBef>
            </a:pP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MetaCheckGPT validates meta-learning a</a:t>
            </a: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s an effective paradigm for hallucination detectio</a:t>
            </a: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n, motivating risk-aware extensions for adaptive hallucination prediction.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1" y="0"/>
                </a:lnTo>
                <a:lnTo>
                  <a:pt x="522665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3061349" y="617220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1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1" y="0"/>
                </a:lnTo>
                <a:lnTo>
                  <a:pt x="5226651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82398" y="286863"/>
            <a:ext cx="17452471" cy="9533412"/>
          </a:xfrm>
          <a:custGeom>
            <a:avLst/>
            <a:gdLst/>
            <a:ahLst/>
            <a:cxnLst/>
            <a:rect r="r" b="b" t="t" l="l"/>
            <a:pathLst>
              <a:path h="9533412" w="17452471">
                <a:moveTo>
                  <a:pt x="0" y="0"/>
                </a:moveTo>
                <a:lnTo>
                  <a:pt x="17452471" y="0"/>
                </a:lnTo>
                <a:lnTo>
                  <a:pt x="17452471" y="9533412"/>
                </a:lnTo>
                <a:lnTo>
                  <a:pt x="0" y="95334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36047" y="1059881"/>
            <a:ext cx="15815477" cy="1131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89"/>
              </a:lnSpc>
            </a:pPr>
            <a:r>
              <a:rPr lang="en-US" sz="3278">
                <a:solidFill>
                  <a:srgbClr val="1D242B"/>
                </a:solidFill>
                <a:latin typeface="Lovelo"/>
                <a:ea typeface="Lovelo"/>
                <a:cs typeface="Lovelo"/>
                <a:sym typeface="Lovelo"/>
              </a:rPr>
              <a:t>TruthfulQA: Measuring How Models Mimic Human Falsehoods (NeurIPS 2022)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46190" y="3079140"/>
            <a:ext cx="8919155" cy="3671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03369" indent="-251684" lvl="1">
              <a:lnSpc>
                <a:spcPts val="3264"/>
              </a:lnSpc>
              <a:buFont typeface="Arial"/>
              <a:buChar char="•"/>
            </a:pP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Provides early empirical evidence that hallucinations persist d</a:t>
            </a: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espi</a:t>
            </a: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te model scaling.</a:t>
            </a:r>
          </a:p>
          <a:p>
            <a:pPr algn="just" marL="503369" indent="-251684" lvl="1">
              <a:lnSpc>
                <a:spcPts val="3264"/>
              </a:lnSpc>
              <a:buFont typeface="Arial"/>
              <a:buChar char="•"/>
            </a:pP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Highlights the need for hallucination risk awareness, not just accuracy optimization.</a:t>
            </a:r>
          </a:p>
          <a:p>
            <a:pPr algn="just" marL="503369" indent="-251684" lvl="1">
              <a:lnSpc>
                <a:spcPts val="3264"/>
              </a:lnSpc>
              <a:buFont typeface="Arial"/>
              <a:buChar char="•"/>
            </a:pP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Motivat</a:t>
            </a: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es uncertainty- and learning-based approaches for hallucination detection.</a:t>
            </a:r>
          </a:p>
          <a:p>
            <a:pPr algn="just" marL="503369" indent="-251684" lvl="1">
              <a:lnSpc>
                <a:spcPts val="3264"/>
              </a:lnSpc>
              <a:buFont typeface="Arial"/>
              <a:buChar char="•"/>
            </a:pP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Supp</a:t>
            </a: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orts framing hallucination as a probab</a:t>
            </a: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ilistic </a:t>
            </a: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risk phenomenon, aligning with meta-learning–based risk prediction.</a:t>
            </a:r>
          </a:p>
          <a:p>
            <a:pPr algn="just">
              <a:lnSpc>
                <a:spcPts val="3264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236047" y="2211758"/>
            <a:ext cx="2581330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20"/>
              </a:lnSpc>
            </a:pPr>
            <a:r>
              <a:rPr lang="en-US" b="true" sz="3800">
                <a:solidFill>
                  <a:srgbClr val="1D242B"/>
                </a:solidFill>
                <a:latin typeface="XM Yekan Bold"/>
                <a:ea typeface="XM Yekan Bold"/>
                <a:cs typeface="XM Yekan Bold"/>
                <a:sym typeface="XM Yekan Bold"/>
              </a:rPr>
              <a:t>SUMMARY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885126" y="2217383"/>
            <a:ext cx="8890869" cy="67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95"/>
              </a:lnSpc>
            </a:pPr>
            <a:r>
              <a:rPr lang="en-US" sz="4067" b="true">
                <a:solidFill>
                  <a:srgbClr val="1D242B"/>
                </a:solidFill>
                <a:latin typeface="XM Yekan Bold"/>
                <a:ea typeface="XM Yekan Bold"/>
                <a:cs typeface="XM Yekan Bold"/>
                <a:sym typeface="XM Yekan Bold"/>
              </a:rPr>
              <a:t>RELEVANCE TO THE TOPIC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-1646723" y="7762875"/>
            <a:ext cx="4563951" cy="4114800"/>
          </a:xfrm>
          <a:custGeom>
            <a:avLst/>
            <a:gdLst/>
            <a:ahLst/>
            <a:cxnLst/>
            <a:rect r="r" b="b" t="t" l="l"/>
            <a:pathLst>
              <a:path h="4114800" w="4563951">
                <a:moveTo>
                  <a:pt x="0" y="0"/>
                </a:moveTo>
                <a:lnTo>
                  <a:pt x="4563951" y="0"/>
                </a:lnTo>
                <a:lnTo>
                  <a:pt x="456395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15383371" y="-1654683"/>
            <a:ext cx="4563951" cy="4114800"/>
          </a:xfrm>
          <a:custGeom>
            <a:avLst/>
            <a:gdLst/>
            <a:ahLst/>
            <a:cxnLst/>
            <a:rect r="r" b="b" t="t" l="l"/>
            <a:pathLst>
              <a:path h="4114800" w="4563951">
                <a:moveTo>
                  <a:pt x="456395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563950" y="0"/>
                </a:lnTo>
                <a:lnTo>
                  <a:pt x="456395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29647" y="2949591"/>
            <a:ext cx="7702242" cy="5946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8344" indent="-229172" lvl="1">
              <a:lnSpc>
                <a:spcPts val="2972"/>
              </a:lnSpc>
              <a:buFont typeface="Arial"/>
              <a:buChar char="•"/>
            </a:pP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Introduces TruthfulQA, a benchmark designed to evaluate whether language models generate truthful answers rather than plausible but incorrect ones.</a:t>
            </a:r>
          </a:p>
          <a:p>
            <a:pPr algn="just" marL="458344" indent="-229172" lvl="1">
              <a:lnSpc>
                <a:spcPts val="2972"/>
              </a:lnSpc>
              <a:buFont typeface="Arial"/>
              <a:buChar char="•"/>
            </a:pP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Focuse</a:t>
            </a: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s on questions where humans commonly hold false beliefs or misconceptions, making hallucination detection challenging.</a:t>
            </a:r>
          </a:p>
          <a:p>
            <a:pPr algn="just" marL="458344" indent="-229172" lvl="1">
              <a:lnSpc>
                <a:spcPts val="2972"/>
              </a:lnSpc>
              <a:buFont typeface="Arial"/>
              <a:buChar char="•"/>
            </a:pP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Co</a:t>
            </a: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vers multiple domains including health, law, finance, and general knowledge.</a:t>
            </a:r>
          </a:p>
          <a:p>
            <a:pPr algn="just" marL="458344" indent="-229172" lvl="1">
              <a:lnSpc>
                <a:spcPts val="2972"/>
              </a:lnSpc>
              <a:buFont typeface="Arial"/>
              <a:buChar char="•"/>
            </a:pP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Evaluates models using both generati</a:t>
            </a: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on-based</a:t>
            </a: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 and multiple-choice settings.</a:t>
            </a:r>
          </a:p>
          <a:p>
            <a:pPr algn="just" marL="458344" indent="-229172" lvl="1">
              <a:lnSpc>
                <a:spcPts val="2972"/>
              </a:lnSpc>
              <a:buFont typeface="Arial"/>
              <a:buChar char="•"/>
            </a:pP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Sh</a:t>
            </a: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ows that larger and more capable models often produce more confident yet incorrect answers.</a:t>
            </a:r>
          </a:p>
          <a:p>
            <a:pPr algn="just" marL="458344" indent="-229172" lvl="1">
              <a:lnSpc>
                <a:spcPts val="2972"/>
              </a:lnSpc>
              <a:buFont typeface="Arial"/>
              <a:buChar char="•"/>
            </a:pP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Limi</a:t>
            </a: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tations: limited domain coverage and focuses primarily on factual truthfulness rather than broader hallucination types.</a:t>
            </a:r>
          </a:p>
          <a:p>
            <a:pPr algn="just">
              <a:lnSpc>
                <a:spcPts val="2972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9092902" y="7103085"/>
            <a:ext cx="8166398" cy="1607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7"/>
              </a:lnSpc>
            </a:pPr>
            <a:r>
              <a:rPr lang="en-US" sz="2290">
                <a:solidFill>
                  <a:srgbClr val="1D242B"/>
                </a:solidFill>
                <a:latin typeface="Lovelo"/>
                <a:ea typeface="Lovelo"/>
                <a:cs typeface="Lovelo"/>
                <a:sym typeface="Lovelo"/>
              </a:rPr>
              <a:t>Key Takeaway</a:t>
            </a:r>
          </a:p>
          <a:p>
            <a:pPr algn="l">
              <a:lnSpc>
                <a:spcPts val="3207"/>
              </a:lnSpc>
              <a:spcBef>
                <a:spcPct val="0"/>
              </a:spcBef>
            </a:pP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TruthfulQA demonstrate</a:t>
            </a: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s that confident falsehoods are common i</a:t>
            </a: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n LLMs, motivating risk-aware hallucination detection beyond accuracy metrics.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1" y="0"/>
                </a:lnTo>
                <a:lnTo>
                  <a:pt x="522665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3061349" y="617220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1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1" y="0"/>
                </a:lnTo>
                <a:lnTo>
                  <a:pt x="5226651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82398" y="286863"/>
            <a:ext cx="17452471" cy="9533412"/>
          </a:xfrm>
          <a:custGeom>
            <a:avLst/>
            <a:gdLst/>
            <a:ahLst/>
            <a:cxnLst/>
            <a:rect r="r" b="b" t="t" l="l"/>
            <a:pathLst>
              <a:path h="9533412" w="17452471">
                <a:moveTo>
                  <a:pt x="0" y="0"/>
                </a:moveTo>
                <a:lnTo>
                  <a:pt x="17452471" y="0"/>
                </a:lnTo>
                <a:lnTo>
                  <a:pt x="17452471" y="9533412"/>
                </a:lnTo>
                <a:lnTo>
                  <a:pt x="0" y="95334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36047" y="1059881"/>
            <a:ext cx="15815477" cy="1131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89"/>
              </a:lnSpc>
            </a:pPr>
            <a:r>
              <a:rPr lang="en-US" sz="3278">
                <a:solidFill>
                  <a:srgbClr val="1D242B"/>
                </a:solidFill>
                <a:latin typeface="Lovelo"/>
                <a:ea typeface="Lovelo"/>
                <a:cs typeface="Lovelo"/>
                <a:sym typeface="Lovelo"/>
              </a:rPr>
              <a:t>SelfCheckGPT: Zero-Resource Black-Box Hallucination Detection (EMNLP 2023)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856840" y="2942733"/>
            <a:ext cx="8919155" cy="3671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03369" indent="-251684" lvl="1">
              <a:lnSpc>
                <a:spcPts val="3264"/>
              </a:lnSpc>
              <a:buFont typeface="Arial"/>
              <a:buChar char="•"/>
            </a:pP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Establishes a baseline uncertainty signal for hallucination detection in black-box LLMs.</a:t>
            </a:r>
          </a:p>
          <a:p>
            <a:pPr algn="just" marL="503369" indent="-251684" lvl="1">
              <a:lnSpc>
                <a:spcPts val="3264"/>
              </a:lnSpc>
              <a:buFont typeface="Arial"/>
              <a:buChar char="•"/>
            </a:pP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Motivates improved uncertainty </a:t>
            </a: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es</a:t>
            </a: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timation methods such as semantic entropy.</a:t>
            </a:r>
          </a:p>
          <a:p>
            <a:pPr algn="just" marL="503369" indent="-251684" lvl="1">
              <a:lnSpc>
                <a:spcPts val="3264"/>
              </a:lnSpc>
              <a:buFont typeface="Arial"/>
              <a:buChar char="•"/>
            </a:pP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Highlights the need fo</a:t>
            </a: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r</a:t>
            </a: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 learning-based aggregation of uncertainty signals rather than fixed inconsistency thresholds.</a:t>
            </a:r>
          </a:p>
          <a:p>
            <a:pPr algn="just" marL="503369" indent="-251684" lvl="1">
              <a:lnSpc>
                <a:spcPts val="3264"/>
              </a:lnSpc>
              <a:buFont typeface="Arial"/>
              <a:buChar char="•"/>
            </a:pP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Ser</a:t>
            </a: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ves as an input signal for meta-learning–b</a:t>
            </a: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as</a:t>
            </a:r>
            <a:r>
              <a:rPr lang="en-US" sz="233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ed hallucination risk prediction.</a:t>
            </a:r>
          </a:p>
          <a:p>
            <a:pPr algn="just">
              <a:lnSpc>
                <a:spcPts val="3264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236047" y="2211758"/>
            <a:ext cx="2581330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20"/>
              </a:lnSpc>
            </a:pPr>
            <a:r>
              <a:rPr lang="en-US" b="true" sz="3800">
                <a:solidFill>
                  <a:srgbClr val="1D242B"/>
                </a:solidFill>
                <a:latin typeface="XM Yekan Bold"/>
                <a:ea typeface="XM Yekan Bold"/>
                <a:cs typeface="XM Yekan Bold"/>
                <a:sym typeface="XM Yekan Bold"/>
              </a:rPr>
              <a:t>SUMMARY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885126" y="2217383"/>
            <a:ext cx="8890869" cy="67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95"/>
              </a:lnSpc>
            </a:pPr>
            <a:r>
              <a:rPr lang="en-US" sz="4067" b="true">
                <a:solidFill>
                  <a:srgbClr val="1D242B"/>
                </a:solidFill>
                <a:latin typeface="XM Yekan Bold"/>
                <a:ea typeface="XM Yekan Bold"/>
                <a:cs typeface="XM Yekan Bold"/>
                <a:sym typeface="XM Yekan Bold"/>
              </a:rPr>
              <a:t>RELEVANCE TO THE TOPIC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-1646723" y="7762875"/>
            <a:ext cx="4563951" cy="4114800"/>
          </a:xfrm>
          <a:custGeom>
            <a:avLst/>
            <a:gdLst/>
            <a:ahLst/>
            <a:cxnLst/>
            <a:rect r="r" b="b" t="t" l="l"/>
            <a:pathLst>
              <a:path h="4114800" w="4563951">
                <a:moveTo>
                  <a:pt x="0" y="0"/>
                </a:moveTo>
                <a:lnTo>
                  <a:pt x="4563951" y="0"/>
                </a:lnTo>
                <a:lnTo>
                  <a:pt x="456395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15383371" y="-1654683"/>
            <a:ext cx="4563951" cy="4114800"/>
          </a:xfrm>
          <a:custGeom>
            <a:avLst/>
            <a:gdLst/>
            <a:ahLst/>
            <a:cxnLst/>
            <a:rect r="r" b="b" t="t" l="l"/>
            <a:pathLst>
              <a:path h="4114800" w="4563951">
                <a:moveTo>
                  <a:pt x="456395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563950" y="0"/>
                </a:lnTo>
                <a:lnTo>
                  <a:pt x="456395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29647" y="2949591"/>
            <a:ext cx="7702242" cy="5574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8344" indent="-229172" lvl="1">
              <a:lnSpc>
                <a:spcPts val="2972"/>
              </a:lnSpc>
              <a:buFont typeface="Arial"/>
              <a:buChar char="•"/>
            </a:pP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Proposes SelfCheckGPT, a hallucination detection method based on self-consistency across multiple model generations.</a:t>
            </a:r>
          </a:p>
          <a:p>
            <a:pPr algn="just" marL="458344" indent="-229172" lvl="1">
              <a:lnSpc>
                <a:spcPts val="2972"/>
              </a:lnSpc>
              <a:buFont typeface="Arial"/>
              <a:buChar char="•"/>
            </a:pP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Detects hallucinations by sampling multi</a:t>
            </a: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ple response</a:t>
            </a: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s to the same prompt and measuring semantic inconsistency among them.</a:t>
            </a:r>
          </a:p>
          <a:p>
            <a:pPr algn="just" marL="458344" indent="-229172" lvl="1">
              <a:lnSpc>
                <a:spcPts val="2972"/>
              </a:lnSpc>
              <a:buFont typeface="Arial"/>
              <a:buChar char="•"/>
            </a:pP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Operates in a black-box setting, requiring no access to model internals, training data, or external knowledge bases.</a:t>
            </a:r>
          </a:p>
          <a:p>
            <a:pPr algn="just" marL="458344" indent="-229172" lvl="1">
              <a:lnSpc>
                <a:spcPts val="2972"/>
              </a:lnSpc>
              <a:buFont typeface="Arial"/>
              <a:buChar char="•"/>
            </a:pP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Applicable across tasks such as question answering, summarizati</a:t>
            </a: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on</a:t>
            </a: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, and long-form generation.</a:t>
            </a:r>
          </a:p>
          <a:p>
            <a:pPr algn="just" marL="458344" indent="-229172" lvl="1">
              <a:lnSpc>
                <a:spcPts val="2972"/>
              </a:lnSpc>
              <a:buFont typeface="Arial"/>
              <a:buChar char="•"/>
            </a:pP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Serv</a:t>
            </a: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es as a strong baseline for uncertainty-based hallucination detection.</a:t>
            </a:r>
          </a:p>
          <a:p>
            <a:pPr algn="just" marL="458344" indent="-229172" lvl="1">
              <a:lnSpc>
                <a:spcPts val="2972"/>
              </a:lnSpc>
              <a:buFont typeface="Arial"/>
              <a:buChar char="•"/>
            </a:pPr>
            <a:r>
              <a:rPr lang="en-US" sz="2122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Limitations: computationally expensive due to repeated sampling and does not provide calibrated risk estimates.</a:t>
            </a:r>
          </a:p>
          <a:p>
            <a:pPr algn="just">
              <a:lnSpc>
                <a:spcPts val="2972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0" y="6916495"/>
            <a:ext cx="8166398" cy="1607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7"/>
              </a:lnSpc>
            </a:pPr>
            <a:r>
              <a:rPr lang="en-US" sz="2290">
                <a:solidFill>
                  <a:srgbClr val="1D242B"/>
                </a:solidFill>
                <a:latin typeface="Lovelo"/>
                <a:ea typeface="Lovelo"/>
                <a:cs typeface="Lovelo"/>
                <a:sym typeface="Lovelo"/>
              </a:rPr>
              <a:t>Key Takeaway</a:t>
            </a:r>
          </a:p>
          <a:p>
            <a:pPr algn="l">
              <a:lnSpc>
                <a:spcPts val="3207"/>
              </a:lnSpc>
              <a:spcBef>
                <a:spcPct val="0"/>
              </a:spcBef>
            </a:pP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Self-consi</a:t>
            </a: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stency reveals hallucination risk in black-box setti</a:t>
            </a:r>
            <a:r>
              <a:rPr lang="en-US" sz="229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ngs, motivating meta-learning approaches for adaptive risk prediction.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5167113" y="0"/>
            <a:ext cx="3120887" cy="4114800"/>
          </a:xfrm>
          <a:custGeom>
            <a:avLst/>
            <a:gdLst/>
            <a:ahLst/>
            <a:cxnLst/>
            <a:rect r="r" b="b" t="t" l="l"/>
            <a:pathLst>
              <a:path h="4114800" w="3120887">
                <a:moveTo>
                  <a:pt x="312088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120887" y="0"/>
                </a:lnTo>
                <a:lnTo>
                  <a:pt x="312088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6219825"/>
            <a:ext cx="3120887" cy="4114800"/>
          </a:xfrm>
          <a:custGeom>
            <a:avLst/>
            <a:gdLst/>
            <a:ahLst/>
            <a:cxnLst/>
            <a:rect r="r" b="b" t="t" l="l"/>
            <a:pathLst>
              <a:path h="4114800" w="3120887">
                <a:moveTo>
                  <a:pt x="0" y="0"/>
                </a:moveTo>
                <a:lnTo>
                  <a:pt x="3120887" y="0"/>
                </a:lnTo>
                <a:lnTo>
                  <a:pt x="312088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710517"/>
            <a:ext cx="16230600" cy="8865965"/>
          </a:xfrm>
          <a:custGeom>
            <a:avLst/>
            <a:gdLst/>
            <a:ahLst/>
            <a:cxnLst/>
            <a:rect r="r" b="b" t="t" l="l"/>
            <a:pathLst>
              <a:path h="8865965" w="16230600">
                <a:moveTo>
                  <a:pt x="0" y="0"/>
                </a:moveTo>
                <a:lnTo>
                  <a:pt x="16230600" y="0"/>
                </a:lnTo>
                <a:lnTo>
                  <a:pt x="16230600" y="8865966"/>
                </a:lnTo>
                <a:lnTo>
                  <a:pt x="0" y="88659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737573" y="1691164"/>
            <a:ext cx="12429540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1D242B"/>
                </a:solidFill>
                <a:latin typeface="Lovelo"/>
                <a:ea typeface="Lovelo"/>
                <a:cs typeface="Lovelo"/>
                <a:sym typeface="Lovelo"/>
              </a:rPr>
              <a:t>Proposed Research Direction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13735" y="3081496"/>
            <a:ext cx="14451970" cy="4226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806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Hallucinations in Large Language Models are inevitable in open-world settings, making complete elimination impractical.</a:t>
            </a:r>
          </a:p>
          <a:p>
            <a:pPr algn="just" marL="647806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Existing detection methods rely on individual signals such as uncertainty measures, internal representations, or black-box consistency checks.</a:t>
            </a:r>
          </a:p>
          <a:p>
            <a:pPr algn="just" marL="647806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This work proposes a meta-learning–based framework that learns to adaptively combine multiple hallucination signals across tasks.</a:t>
            </a:r>
          </a:p>
          <a:p>
            <a:pPr algn="just" marL="647806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The objective is hallucination risk prediction, enabling selective abstention or verification rather than binary detection.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30433" y="7950481"/>
            <a:ext cx="10725328" cy="1307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2141" indent="-271071" lvl="1">
              <a:lnSpc>
                <a:spcPts val="3515"/>
              </a:lnSpc>
              <a:buFont typeface="Arial"/>
              <a:buChar char="•"/>
            </a:pPr>
            <a:r>
              <a:rPr lang="en-US" sz="251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My work proposes a meta-learning framework to combine multiple hallucination signals for adaptive hallucination risk prediction.</a:t>
            </a:r>
          </a:p>
          <a:p>
            <a:pPr algn="l" marL="542141" indent="-271071" lvl="1">
              <a:lnSpc>
                <a:spcPts val="3515"/>
              </a:lnSpc>
              <a:buFont typeface="Arial"/>
              <a:buChar char="•"/>
            </a:pPr>
            <a:r>
              <a:rPr lang="en-US" sz="251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Learn how to detect hallucinati</a:t>
            </a:r>
            <a:r>
              <a:rPr lang="en-US" sz="2511">
                <a:solidFill>
                  <a:srgbClr val="1D242B"/>
                </a:solidFill>
                <a:latin typeface="XM Yekan"/>
                <a:ea typeface="XM Yekan"/>
                <a:cs typeface="XM Yekan"/>
                <a:sym typeface="XM Yekan"/>
              </a:rPr>
              <a:t>ons, not just what signal to use.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462593" y="7389142"/>
            <a:ext cx="2268022" cy="6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0"/>
              </a:lnSpc>
              <a:spcBef>
                <a:spcPct val="0"/>
              </a:spcBef>
            </a:pPr>
            <a:r>
              <a:rPr lang="en-US" b="true" sz="3400">
                <a:solidFill>
                  <a:srgbClr val="1D242B"/>
                </a:solidFill>
                <a:latin typeface="Poppins Bold"/>
                <a:ea typeface="Poppins Bold"/>
                <a:cs typeface="Poppins Bold"/>
                <a:sym typeface="Poppins Bold"/>
              </a:rPr>
              <a:t>CORE IDEA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710517"/>
            <a:ext cx="16230600" cy="8865965"/>
          </a:xfrm>
          <a:custGeom>
            <a:avLst/>
            <a:gdLst/>
            <a:ahLst/>
            <a:cxnLst/>
            <a:rect r="r" b="b" t="t" l="l"/>
            <a:pathLst>
              <a:path h="8865965" w="16230600">
                <a:moveTo>
                  <a:pt x="0" y="0"/>
                </a:moveTo>
                <a:lnTo>
                  <a:pt x="16230600" y="0"/>
                </a:lnTo>
                <a:lnTo>
                  <a:pt x="16230600" y="8865966"/>
                </a:lnTo>
                <a:lnTo>
                  <a:pt x="0" y="8865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1" y="0"/>
                </a:lnTo>
                <a:lnTo>
                  <a:pt x="522665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611850" y="3431245"/>
            <a:ext cx="9064300" cy="3738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98"/>
              </a:lnSpc>
            </a:pPr>
            <a:r>
              <a:rPr lang="en-US" sz="14741">
                <a:solidFill>
                  <a:srgbClr val="1D242B"/>
                </a:solidFill>
                <a:latin typeface="Lovelo"/>
                <a:ea typeface="Lovelo"/>
                <a:cs typeface="Lovelo"/>
                <a:sym typeface="Lovelo"/>
              </a:rPr>
              <a:t>THANK YOU</a:t>
            </a:r>
          </a:p>
        </p:txBody>
      </p:sp>
      <p:sp>
        <p:nvSpPr>
          <p:cNvPr name="Freeform 5" id="5"/>
          <p:cNvSpPr/>
          <p:nvPr/>
        </p:nvSpPr>
        <p:spPr>
          <a:xfrm flipH="true" flipV="true" rot="0">
            <a:off x="13061349" y="617220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1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1" y="0"/>
                </a:lnTo>
                <a:lnTo>
                  <a:pt x="5226651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646723" y="7762875"/>
            <a:ext cx="4563951" cy="4114800"/>
          </a:xfrm>
          <a:custGeom>
            <a:avLst/>
            <a:gdLst/>
            <a:ahLst/>
            <a:cxnLst/>
            <a:rect r="r" b="b" t="t" l="l"/>
            <a:pathLst>
              <a:path h="4114800" w="4563951">
                <a:moveTo>
                  <a:pt x="0" y="0"/>
                </a:moveTo>
                <a:lnTo>
                  <a:pt x="4563951" y="0"/>
                </a:lnTo>
                <a:lnTo>
                  <a:pt x="456395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5383371" y="-1654683"/>
            <a:ext cx="4563951" cy="4114800"/>
          </a:xfrm>
          <a:custGeom>
            <a:avLst/>
            <a:gdLst/>
            <a:ahLst/>
            <a:cxnLst/>
            <a:rect r="r" b="b" t="t" l="l"/>
            <a:pathLst>
              <a:path h="4114800" w="4563951">
                <a:moveTo>
                  <a:pt x="456395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563950" y="0"/>
                </a:lnTo>
                <a:lnTo>
                  <a:pt x="456395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268554" y="8284505"/>
            <a:ext cx="3441469" cy="4114800"/>
          </a:xfrm>
          <a:custGeom>
            <a:avLst/>
            <a:gdLst/>
            <a:ahLst/>
            <a:cxnLst/>
            <a:rect r="r" b="b" t="t" l="l"/>
            <a:pathLst>
              <a:path h="4114800" w="3441469">
                <a:moveTo>
                  <a:pt x="0" y="0"/>
                </a:moveTo>
                <a:lnTo>
                  <a:pt x="3441469" y="0"/>
                </a:lnTo>
                <a:lnTo>
                  <a:pt x="344146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8014311" y="-2114550"/>
            <a:ext cx="3441469" cy="4114800"/>
          </a:xfrm>
          <a:custGeom>
            <a:avLst/>
            <a:gdLst/>
            <a:ahLst/>
            <a:cxnLst/>
            <a:rect r="r" b="b" t="t" l="l"/>
            <a:pathLst>
              <a:path h="4114800" w="3441469">
                <a:moveTo>
                  <a:pt x="3441469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441469" y="0"/>
                </a:lnTo>
                <a:lnTo>
                  <a:pt x="3441469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DAG-R0LJ4Iw</dc:identifier>
  <dcterms:modified xsi:type="dcterms:W3CDTF">2011-08-01T06:04:30Z</dcterms:modified>
  <cp:revision>1</cp:revision>
  <dc:title>Why is this paper important? Avoids false uncertainty caused by different phrasings Outperforms token entropy &amp; supervised baselines Detects hallucinations in QA, math, biomedical, biographies Enables safer LLM usage by flagging unreliable answers</dc:title>
</cp:coreProperties>
</file>